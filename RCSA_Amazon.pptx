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258" r:id="rId3"/>
    <p:sldId id="259" r:id="rId4"/>
    <p:sldId id="260" r:id="rId5"/>
    <p:sldId id="261" r:id="rId6"/>
    <p:sldId id="269" r:id="rId7"/>
    <p:sldId id="263" r:id="rId8"/>
    <p:sldId id="270" r:id="rId9"/>
    <p:sldId id="264" r:id="rId10"/>
    <p:sldId id="267" r:id="rId11"/>
    <p:sldId id="268" r:id="rId12"/>
    <p:sldId id="272" r:id="rId13"/>
    <p:sldId id="271" r:id="rId14"/>
    <p:sldId id="26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81519E-A426-438D-8AEC-590FAFA4B3E3}" type="doc">
      <dgm:prSet loTypeId="urn:microsoft.com/office/officeart/2005/8/layout/hProcess3" loCatId="process" qsTypeId="urn:microsoft.com/office/officeart/2005/8/quickstyle/simple1" qsCatId="simple" csTypeId="urn:microsoft.com/office/officeart/2005/8/colors/accent1_2" csCatId="accent1" phldr="1"/>
      <dgm:spPr/>
    </dgm:pt>
    <dgm:pt modelId="{A95B525B-FBAA-4DCA-B1E3-46158E3FDE06}">
      <dgm:prSet phldrT="[Text]" custT="1"/>
      <dgm:spPr/>
      <dgm:t>
        <a:bodyPr/>
        <a:lstStyle/>
        <a:p>
          <a:r>
            <a:rPr lang="en-IN" sz="1400" b="1" dirty="0"/>
            <a:t>Top-Down</a:t>
          </a:r>
        </a:p>
        <a:p>
          <a:endParaRPr lang="en-IN" sz="1400" b="1" dirty="0"/>
        </a:p>
        <a:p>
          <a:r>
            <a:rPr lang="en-IN" sz="1400" dirty="0"/>
            <a:t>Enables top</a:t>
          </a:r>
        </a:p>
        <a:p>
          <a:r>
            <a:rPr lang="en-IN" sz="1400" dirty="0"/>
            <a:t> management</a:t>
          </a:r>
        </a:p>
        <a:p>
          <a:r>
            <a:rPr lang="en-IN" sz="1400" dirty="0"/>
            <a:t> to make better </a:t>
          </a:r>
        </a:p>
        <a:p>
          <a:r>
            <a:rPr lang="en-IN" sz="1400" dirty="0"/>
            <a:t>risk based decisions</a:t>
          </a:r>
        </a:p>
      </dgm:t>
    </dgm:pt>
    <dgm:pt modelId="{8B26FC74-AD2D-491B-AF54-E0792670F192}" type="parTrans" cxnId="{49819541-FF3C-4E32-8AF3-A0BF6302B2D4}">
      <dgm:prSet/>
      <dgm:spPr/>
      <dgm:t>
        <a:bodyPr/>
        <a:lstStyle/>
        <a:p>
          <a:endParaRPr lang="en-IN"/>
        </a:p>
      </dgm:t>
    </dgm:pt>
    <dgm:pt modelId="{4847E901-CAA9-4EE5-B12A-A0B1A947E60A}" type="sibTrans" cxnId="{49819541-FF3C-4E32-8AF3-A0BF6302B2D4}">
      <dgm:prSet/>
      <dgm:spPr/>
      <dgm:t>
        <a:bodyPr/>
        <a:lstStyle/>
        <a:p>
          <a:endParaRPr lang="en-IN"/>
        </a:p>
      </dgm:t>
    </dgm:pt>
    <dgm:pt modelId="{7F8B8044-DBA3-4CD1-B452-8D4DF1F40339}" type="pres">
      <dgm:prSet presAssocID="{A581519E-A426-438D-8AEC-590FAFA4B3E3}" presName="Name0" presStyleCnt="0">
        <dgm:presLayoutVars>
          <dgm:dir/>
          <dgm:animLvl val="lvl"/>
          <dgm:resizeHandles val="exact"/>
        </dgm:presLayoutVars>
      </dgm:prSet>
      <dgm:spPr/>
    </dgm:pt>
    <dgm:pt modelId="{F7DCAF60-4705-469B-BFE8-5E9888DF936A}" type="pres">
      <dgm:prSet presAssocID="{A581519E-A426-438D-8AEC-590FAFA4B3E3}" presName="dummy" presStyleCnt="0"/>
      <dgm:spPr/>
    </dgm:pt>
    <dgm:pt modelId="{096F2FEF-5272-4798-A251-585D5C062E2C}" type="pres">
      <dgm:prSet presAssocID="{A581519E-A426-438D-8AEC-590FAFA4B3E3}" presName="linH" presStyleCnt="0"/>
      <dgm:spPr/>
    </dgm:pt>
    <dgm:pt modelId="{1757228A-87BF-4B84-A18A-C220283B6E2A}" type="pres">
      <dgm:prSet presAssocID="{A581519E-A426-438D-8AEC-590FAFA4B3E3}" presName="padding1" presStyleCnt="0"/>
      <dgm:spPr/>
    </dgm:pt>
    <dgm:pt modelId="{8E791640-8AFD-4842-867F-C69148C27C3E}" type="pres">
      <dgm:prSet presAssocID="{A95B525B-FBAA-4DCA-B1E3-46158E3FDE06}" presName="linV" presStyleCnt="0"/>
      <dgm:spPr/>
    </dgm:pt>
    <dgm:pt modelId="{95CE0403-E05A-42E5-8AAD-74DF81CF8CBF}" type="pres">
      <dgm:prSet presAssocID="{A95B525B-FBAA-4DCA-B1E3-46158E3FDE06}" presName="spVertical1" presStyleCnt="0"/>
      <dgm:spPr/>
    </dgm:pt>
    <dgm:pt modelId="{DB44A3AE-B491-46BB-B8FA-7067D998036D}" type="pres">
      <dgm:prSet presAssocID="{A95B525B-FBAA-4DCA-B1E3-46158E3FDE06}" presName="parTx" presStyleLbl="revTx" presStyleIdx="0" presStyleCnt="1" custLinFactY="-161" custLinFactNeighborX="1180" custLinFactNeighborY="-100000">
        <dgm:presLayoutVars>
          <dgm:chMax val="0"/>
          <dgm:chPref val="0"/>
          <dgm:bulletEnabled val="1"/>
        </dgm:presLayoutVars>
      </dgm:prSet>
      <dgm:spPr/>
    </dgm:pt>
    <dgm:pt modelId="{21D90B98-B5F9-4E5A-ADB6-6B4FB4DD0F35}" type="pres">
      <dgm:prSet presAssocID="{A95B525B-FBAA-4DCA-B1E3-46158E3FDE06}" presName="spVertical2" presStyleCnt="0"/>
      <dgm:spPr/>
    </dgm:pt>
    <dgm:pt modelId="{6F6208D3-EF56-4EEF-95B0-1BD3B475971B}" type="pres">
      <dgm:prSet presAssocID="{A95B525B-FBAA-4DCA-B1E3-46158E3FDE06}" presName="spVertical3" presStyleCnt="0"/>
      <dgm:spPr/>
    </dgm:pt>
    <dgm:pt modelId="{CD770390-15FC-4AB0-8A45-E37B82E37E5B}" type="pres">
      <dgm:prSet presAssocID="{A581519E-A426-438D-8AEC-590FAFA4B3E3}" presName="padding2" presStyleCnt="0"/>
      <dgm:spPr/>
    </dgm:pt>
    <dgm:pt modelId="{29456B1B-9AD8-416A-AAD9-2AB514E1F539}" type="pres">
      <dgm:prSet presAssocID="{A581519E-A426-438D-8AEC-590FAFA4B3E3}" presName="negArrow" presStyleCnt="0"/>
      <dgm:spPr/>
    </dgm:pt>
    <dgm:pt modelId="{4C029F4F-7D7E-448F-87A8-8C8F18458A55}" type="pres">
      <dgm:prSet presAssocID="{A581519E-A426-438D-8AEC-590FAFA4B3E3}" presName="backgroundArrow" presStyleLbl="node1" presStyleIdx="0" presStyleCnt="1" custAng="5400000"/>
      <dgm:spPr>
        <a:solidFill>
          <a:schemeClr val="accent1">
            <a:lumMod val="60000"/>
            <a:lumOff val="40000"/>
            <a:alpha val="61000"/>
          </a:schemeClr>
        </a:solidFill>
      </dgm:spPr>
    </dgm:pt>
  </dgm:ptLst>
  <dgm:cxnLst>
    <dgm:cxn modelId="{49819541-FF3C-4E32-8AF3-A0BF6302B2D4}" srcId="{A581519E-A426-438D-8AEC-590FAFA4B3E3}" destId="{A95B525B-FBAA-4DCA-B1E3-46158E3FDE06}" srcOrd="0" destOrd="0" parTransId="{8B26FC74-AD2D-491B-AF54-E0792670F192}" sibTransId="{4847E901-CAA9-4EE5-B12A-A0B1A947E60A}"/>
    <dgm:cxn modelId="{D3C220D8-E7DC-4775-92E4-02206EDE648E}" type="presOf" srcId="{A95B525B-FBAA-4DCA-B1E3-46158E3FDE06}" destId="{DB44A3AE-B491-46BB-B8FA-7067D998036D}" srcOrd="0" destOrd="0" presId="urn:microsoft.com/office/officeart/2005/8/layout/hProcess3"/>
    <dgm:cxn modelId="{14DF0FE2-65DD-4347-BFF7-A5F93075DA87}" type="presOf" srcId="{A581519E-A426-438D-8AEC-590FAFA4B3E3}" destId="{7F8B8044-DBA3-4CD1-B452-8D4DF1F40339}" srcOrd="0" destOrd="0" presId="urn:microsoft.com/office/officeart/2005/8/layout/hProcess3"/>
    <dgm:cxn modelId="{63B06714-919C-42D7-A4A1-697A7E6DC6FE}" type="presParOf" srcId="{7F8B8044-DBA3-4CD1-B452-8D4DF1F40339}" destId="{F7DCAF60-4705-469B-BFE8-5E9888DF936A}" srcOrd="0" destOrd="0" presId="urn:microsoft.com/office/officeart/2005/8/layout/hProcess3"/>
    <dgm:cxn modelId="{8A0793B8-51B9-40EF-8A4E-8B9F5FAF9314}" type="presParOf" srcId="{7F8B8044-DBA3-4CD1-B452-8D4DF1F40339}" destId="{096F2FEF-5272-4798-A251-585D5C062E2C}" srcOrd="1" destOrd="0" presId="urn:microsoft.com/office/officeart/2005/8/layout/hProcess3"/>
    <dgm:cxn modelId="{967E2246-5282-4E94-844C-91F5EFFD3AC1}" type="presParOf" srcId="{096F2FEF-5272-4798-A251-585D5C062E2C}" destId="{1757228A-87BF-4B84-A18A-C220283B6E2A}" srcOrd="0" destOrd="0" presId="urn:microsoft.com/office/officeart/2005/8/layout/hProcess3"/>
    <dgm:cxn modelId="{00511479-81DD-4775-B534-207CCC9BA1D2}" type="presParOf" srcId="{096F2FEF-5272-4798-A251-585D5C062E2C}" destId="{8E791640-8AFD-4842-867F-C69148C27C3E}" srcOrd="1" destOrd="0" presId="urn:microsoft.com/office/officeart/2005/8/layout/hProcess3"/>
    <dgm:cxn modelId="{F8E514E8-E4DF-4EE4-A6E9-8C6D741ACDB6}" type="presParOf" srcId="{8E791640-8AFD-4842-867F-C69148C27C3E}" destId="{95CE0403-E05A-42E5-8AAD-74DF81CF8CBF}" srcOrd="0" destOrd="0" presId="urn:microsoft.com/office/officeart/2005/8/layout/hProcess3"/>
    <dgm:cxn modelId="{ED160041-AAAF-441A-AFF4-9AEFD8698F8E}" type="presParOf" srcId="{8E791640-8AFD-4842-867F-C69148C27C3E}" destId="{DB44A3AE-B491-46BB-B8FA-7067D998036D}" srcOrd="1" destOrd="0" presId="urn:microsoft.com/office/officeart/2005/8/layout/hProcess3"/>
    <dgm:cxn modelId="{6F5EDDA7-986B-487C-B71C-41C91A783F28}" type="presParOf" srcId="{8E791640-8AFD-4842-867F-C69148C27C3E}" destId="{21D90B98-B5F9-4E5A-ADB6-6B4FB4DD0F35}" srcOrd="2" destOrd="0" presId="urn:microsoft.com/office/officeart/2005/8/layout/hProcess3"/>
    <dgm:cxn modelId="{2C45106F-F88D-4F77-ACC6-517628E42990}" type="presParOf" srcId="{8E791640-8AFD-4842-867F-C69148C27C3E}" destId="{6F6208D3-EF56-4EEF-95B0-1BD3B475971B}" srcOrd="3" destOrd="0" presId="urn:microsoft.com/office/officeart/2005/8/layout/hProcess3"/>
    <dgm:cxn modelId="{1825E2B9-750A-4C91-AF05-1B544F0B185E}" type="presParOf" srcId="{096F2FEF-5272-4798-A251-585D5C062E2C}" destId="{CD770390-15FC-4AB0-8A45-E37B82E37E5B}" srcOrd="2" destOrd="0" presId="urn:microsoft.com/office/officeart/2005/8/layout/hProcess3"/>
    <dgm:cxn modelId="{1B862EBD-5859-4F8E-810C-5A0F183A63FD}" type="presParOf" srcId="{096F2FEF-5272-4798-A251-585D5C062E2C}" destId="{29456B1B-9AD8-416A-AAD9-2AB514E1F539}" srcOrd="3" destOrd="0" presId="urn:microsoft.com/office/officeart/2005/8/layout/hProcess3"/>
    <dgm:cxn modelId="{A3B99AF6-1B9C-47AB-95C9-4CA10F7F9C79}" type="presParOf" srcId="{096F2FEF-5272-4798-A251-585D5C062E2C}" destId="{4C029F4F-7D7E-448F-87A8-8C8F18458A55}" srcOrd="4" destOrd="0" presId="urn:microsoft.com/office/officeart/2005/8/layout/h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81519E-A426-438D-8AEC-590FAFA4B3E3}" type="doc">
      <dgm:prSet loTypeId="urn:microsoft.com/office/officeart/2005/8/layout/hProcess3" loCatId="process" qsTypeId="urn:microsoft.com/office/officeart/2005/8/quickstyle/simple1" qsCatId="simple" csTypeId="urn:microsoft.com/office/officeart/2005/8/colors/accent1_2" csCatId="accent1" phldr="1"/>
      <dgm:spPr/>
    </dgm:pt>
    <dgm:pt modelId="{A95B525B-FBAA-4DCA-B1E3-46158E3FDE06}">
      <dgm:prSet phldrT="[Text]" custT="1"/>
      <dgm:spPr/>
      <dgm:t>
        <a:bodyPr/>
        <a:lstStyle/>
        <a:p>
          <a:r>
            <a:rPr lang="en-IN" sz="1400" b="1" dirty="0"/>
            <a:t>Bottom-up</a:t>
          </a:r>
        </a:p>
        <a:p>
          <a:endParaRPr lang="en-IN" sz="1400" b="1" dirty="0"/>
        </a:p>
        <a:p>
          <a:endParaRPr lang="en-IN" sz="1400" b="1" dirty="0"/>
        </a:p>
        <a:p>
          <a:r>
            <a:rPr lang="en-IN" sz="1400" dirty="0"/>
            <a:t>Drives robust </a:t>
          </a:r>
        </a:p>
        <a:p>
          <a:r>
            <a:rPr lang="en-IN" sz="1400" dirty="0"/>
            <a:t>risk management </a:t>
          </a:r>
        </a:p>
        <a:p>
          <a:r>
            <a:rPr lang="en-IN" sz="1400" dirty="0"/>
            <a:t>across the enterprise</a:t>
          </a:r>
        </a:p>
      </dgm:t>
    </dgm:pt>
    <dgm:pt modelId="{8B26FC74-AD2D-491B-AF54-E0792670F192}" type="parTrans" cxnId="{49819541-FF3C-4E32-8AF3-A0BF6302B2D4}">
      <dgm:prSet/>
      <dgm:spPr/>
      <dgm:t>
        <a:bodyPr/>
        <a:lstStyle/>
        <a:p>
          <a:endParaRPr lang="en-IN"/>
        </a:p>
      </dgm:t>
    </dgm:pt>
    <dgm:pt modelId="{4847E901-CAA9-4EE5-B12A-A0B1A947E60A}" type="sibTrans" cxnId="{49819541-FF3C-4E32-8AF3-A0BF6302B2D4}">
      <dgm:prSet/>
      <dgm:spPr/>
      <dgm:t>
        <a:bodyPr/>
        <a:lstStyle/>
        <a:p>
          <a:endParaRPr lang="en-IN"/>
        </a:p>
      </dgm:t>
    </dgm:pt>
    <dgm:pt modelId="{7F8B8044-DBA3-4CD1-B452-8D4DF1F40339}" type="pres">
      <dgm:prSet presAssocID="{A581519E-A426-438D-8AEC-590FAFA4B3E3}" presName="Name0" presStyleCnt="0">
        <dgm:presLayoutVars>
          <dgm:dir/>
          <dgm:animLvl val="lvl"/>
          <dgm:resizeHandles val="exact"/>
        </dgm:presLayoutVars>
      </dgm:prSet>
      <dgm:spPr/>
    </dgm:pt>
    <dgm:pt modelId="{F7DCAF60-4705-469B-BFE8-5E9888DF936A}" type="pres">
      <dgm:prSet presAssocID="{A581519E-A426-438D-8AEC-590FAFA4B3E3}" presName="dummy" presStyleCnt="0"/>
      <dgm:spPr/>
    </dgm:pt>
    <dgm:pt modelId="{096F2FEF-5272-4798-A251-585D5C062E2C}" type="pres">
      <dgm:prSet presAssocID="{A581519E-A426-438D-8AEC-590FAFA4B3E3}" presName="linH" presStyleCnt="0"/>
      <dgm:spPr/>
    </dgm:pt>
    <dgm:pt modelId="{1757228A-87BF-4B84-A18A-C220283B6E2A}" type="pres">
      <dgm:prSet presAssocID="{A581519E-A426-438D-8AEC-590FAFA4B3E3}" presName="padding1" presStyleCnt="0"/>
      <dgm:spPr/>
    </dgm:pt>
    <dgm:pt modelId="{8E791640-8AFD-4842-867F-C69148C27C3E}" type="pres">
      <dgm:prSet presAssocID="{A95B525B-FBAA-4DCA-B1E3-46158E3FDE06}" presName="linV" presStyleCnt="0"/>
      <dgm:spPr/>
    </dgm:pt>
    <dgm:pt modelId="{95CE0403-E05A-42E5-8AAD-74DF81CF8CBF}" type="pres">
      <dgm:prSet presAssocID="{A95B525B-FBAA-4DCA-B1E3-46158E3FDE06}" presName="spVertical1" presStyleCnt="0"/>
      <dgm:spPr/>
    </dgm:pt>
    <dgm:pt modelId="{DB44A3AE-B491-46BB-B8FA-7067D998036D}" type="pres">
      <dgm:prSet presAssocID="{A95B525B-FBAA-4DCA-B1E3-46158E3FDE06}" presName="parTx" presStyleLbl="revTx" presStyleIdx="0" presStyleCnt="1" custLinFactNeighborX="1180" custLinFactNeighborY="92542">
        <dgm:presLayoutVars>
          <dgm:chMax val="0"/>
          <dgm:chPref val="0"/>
          <dgm:bulletEnabled val="1"/>
        </dgm:presLayoutVars>
      </dgm:prSet>
      <dgm:spPr/>
    </dgm:pt>
    <dgm:pt modelId="{21D90B98-B5F9-4E5A-ADB6-6B4FB4DD0F35}" type="pres">
      <dgm:prSet presAssocID="{A95B525B-FBAA-4DCA-B1E3-46158E3FDE06}" presName="spVertical2" presStyleCnt="0"/>
      <dgm:spPr/>
    </dgm:pt>
    <dgm:pt modelId="{6F6208D3-EF56-4EEF-95B0-1BD3B475971B}" type="pres">
      <dgm:prSet presAssocID="{A95B525B-FBAA-4DCA-B1E3-46158E3FDE06}" presName="spVertical3" presStyleCnt="0"/>
      <dgm:spPr/>
    </dgm:pt>
    <dgm:pt modelId="{CD770390-15FC-4AB0-8A45-E37B82E37E5B}" type="pres">
      <dgm:prSet presAssocID="{A581519E-A426-438D-8AEC-590FAFA4B3E3}" presName="padding2" presStyleCnt="0"/>
      <dgm:spPr/>
    </dgm:pt>
    <dgm:pt modelId="{29456B1B-9AD8-416A-AAD9-2AB514E1F539}" type="pres">
      <dgm:prSet presAssocID="{A581519E-A426-438D-8AEC-590FAFA4B3E3}" presName="negArrow" presStyleCnt="0"/>
      <dgm:spPr/>
    </dgm:pt>
    <dgm:pt modelId="{4C029F4F-7D7E-448F-87A8-8C8F18458A55}" type="pres">
      <dgm:prSet presAssocID="{A581519E-A426-438D-8AEC-590FAFA4B3E3}" presName="backgroundArrow" presStyleLbl="node1" presStyleIdx="0" presStyleCnt="1" custAng="16200000" custLinFactNeighborX="92386" custLinFactNeighborY="13988"/>
      <dgm:spPr>
        <a:solidFill>
          <a:schemeClr val="accent1">
            <a:lumMod val="60000"/>
            <a:lumOff val="40000"/>
            <a:alpha val="61000"/>
          </a:schemeClr>
        </a:solidFill>
      </dgm:spPr>
    </dgm:pt>
  </dgm:ptLst>
  <dgm:cxnLst>
    <dgm:cxn modelId="{49819541-FF3C-4E32-8AF3-A0BF6302B2D4}" srcId="{A581519E-A426-438D-8AEC-590FAFA4B3E3}" destId="{A95B525B-FBAA-4DCA-B1E3-46158E3FDE06}" srcOrd="0" destOrd="0" parTransId="{8B26FC74-AD2D-491B-AF54-E0792670F192}" sibTransId="{4847E901-CAA9-4EE5-B12A-A0B1A947E60A}"/>
    <dgm:cxn modelId="{D3C220D8-E7DC-4775-92E4-02206EDE648E}" type="presOf" srcId="{A95B525B-FBAA-4DCA-B1E3-46158E3FDE06}" destId="{DB44A3AE-B491-46BB-B8FA-7067D998036D}" srcOrd="0" destOrd="0" presId="urn:microsoft.com/office/officeart/2005/8/layout/hProcess3"/>
    <dgm:cxn modelId="{14DF0FE2-65DD-4347-BFF7-A5F93075DA87}" type="presOf" srcId="{A581519E-A426-438D-8AEC-590FAFA4B3E3}" destId="{7F8B8044-DBA3-4CD1-B452-8D4DF1F40339}" srcOrd="0" destOrd="0" presId="urn:microsoft.com/office/officeart/2005/8/layout/hProcess3"/>
    <dgm:cxn modelId="{63B06714-919C-42D7-A4A1-697A7E6DC6FE}" type="presParOf" srcId="{7F8B8044-DBA3-4CD1-B452-8D4DF1F40339}" destId="{F7DCAF60-4705-469B-BFE8-5E9888DF936A}" srcOrd="0" destOrd="0" presId="urn:microsoft.com/office/officeart/2005/8/layout/hProcess3"/>
    <dgm:cxn modelId="{8A0793B8-51B9-40EF-8A4E-8B9F5FAF9314}" type="presParOf" srcId="{7F8B8044-DBA3-4CD1-B452-8D4DF1F40339}" destId="{096F2FEF-5272-4798-A251-585D5C062E2C}" srcOrd="1" destOrd="0" presId="urn:microsoft.com/office/officeart/2005/8/layout/hProcess3"/>
    <dgm:cxn modelId="{967E2246-5282-4E94-844C-91F5EFFD3AC1}" type="presParOf" srcId="{096F2FEF-5272-4798-A251-585D5C062E2C}" destId="{1757228A-87BF-4B84-A18A-C220283B6E2A}" srcOrd="0" destOrd="0" presId="urn:microsoft.com/office/officeart/2005/8/layout/hProcess3"/>
    <dgm:cxn modelId="{00511479-81DD-4775-B534-207CCC9BA1D2}" type="presParOf" srcId="{096F2FEF-5272-4798-A251-585D5C062E2C}" destId="{8E791640-8AFD-4842-867F-C69148C27C3E}" srcOrd="1" destOrd="0" presId="urn:microsoft.com/office/officeart/2005/8/layout/hProcess3"/>
    <dgm:cxn modelId="{F8E514E8-E4DF-4EE4-A6E9-8C6D741ACDB6}" type="presParOf" srcId="{8E791640-8AFD-4842-867F-C69148C27C3E}" destId="{95CE0403-E05A-42E5-8AAD-74DF81CF8CBF}" srcOrd="0" destOrd="0" presId="urn:microsoft.com/office/officeart/2005/8/layout/hProcess3"/>
    <dgm:cxn modelId="{ED160041-AAAF-441A-AFF4-9AEFD8698F8E}" type="presParOf" srcId="{8E791640-8AFD-4842-867F-C69148C27C3E}" destId="{DB44A3AE-B491-46BB-B8FA-7067D998036D}" srcOrd="1" destOrd="0" presId="urn:microsoft.com/office/officeart/2005/8/layout/hProcess3"/>
    <dgm:cxn modelId="{6F5EDDA7-986B-487C-B71C-41C91A783F28}" type="presParOf" srcId="{8E791640-8AFD-4842-867F-C69148C27C3E}" destId="{21D90B98-B5F9-4E5A-ADB6-6B4FB4DD0F35}" srcOrd="2" destOrd="0" presId="urn:microsoft.com/office/officeart/2005/8/layout/hProcess3"/>
    <dgm:cxn modelId="{2C45106F-F88D-4F77-ACC6-517628E42990}" type="presParOf" srcId="{8E791640-8AFD-4842-867F-C69148C27C3E}" destId="{6F6208D3-EF56-4EEF-95B0-1BD3B475971B}" srcOrd="3" destOrd="0" presId="urn:microsoft.com/office/officeart/2005/8/layout/hProcess3"/>
    <dgm:cxn modelId="{1825E2B9-750A-4C91-AF05-1B544F0B185E}" type="presParOf" srcId="{096F2FEF-5272-4798-A251-585D5C062E2C}" destId="{CD770390-15FC-4AB0-8A45-E37B82E37E5B}" srcOrd="2" destOrd="0" presId="urn:microsoft.com/office/officeart/2005/8/layout/hProcess3"/>
    <dgm:cxn modelId="{1B862EBD-5859-4F8E-810C-5A0F183A63FD}" type="presParOf" srcId="{096F2FEF-5272-4798-A251-585D5C062E2C}" destId="{29456B1B-9AD8-416A-AAD9-2AB514E1F539}" srcOrd="3" destOrd="0" presId="urn:microsoft.com/office/officeart/2005/8/layout/hProcess3"/>
    <dgm:cxn modelId="{A3B99AF6-1B9C-47AB-95C9-4CA10F7F9C79}" type="presParOf" srcId="{096F2FEF-5272-4798-A251-585D5C062E2C}" destId="{4C029F4F-7D7E-448F-87A8-8C8F18458A55}" srcOrd="4" destOrd="0" presId="urn:microsoft.com/office/officeart/2005/8/layout/hProcess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029F4F-7D7E-448F-87A8-8C8F18458A55}">
      <dsp:nvSpPr>
        <dsp:cNvPr id="0" name=""/>
        <dsp:cNvSpPr/>
      </dsp:nvSpPr>
      <dsp:spPr>
        <a:xfrm rot="5400000">
          <a:off x="0" y="13244"/>
          <a:ext cx="3618402" cy="3528000"/>
        </a:xfrm>
        <a:prstGeom prst="rightArrow">
          <a:avLst/>
        </a:prstGeom>
        <a:solidFill>
          <a:schemeClr val="accent1">
            <a:lumMod val="60000"/>
            <a:lumOff val="40000"/>
            <a:alpha val="61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44A3AE-B491-46BB-B8FA-7067D998036D}">
      <dsp:nvSpPr>
        <dsp:cNvPr id="0" name=""/>
        <dsp:cNvSpPr/>
      </dsp:nvSpPr>
      <dsp:spPr>
        <a:xfrm>
          <a:off x="326858" y="10404"/>
          <a:ext cx="2964686" cy="176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240" rIns="0" bIns="142240" numCol="1" spcCol="1270" anchor="ctr" anchorCtr="0">
          <a:noAutofit/>
        </a:bodyPr>
        <a:lstStyle/>
        <a:p>
          <a:pPr marL="0" lvl="0" indent="0" algn="ctr" defTabSz="622300">
            <a:lnSpc>
              <a:spcPct val="90000"/>
            </a:lnSpc>
            <a:spcBef>
              <a:spcPct val="0"/>
            </a:spcBef>
            <a:spcAft>
              <a:spcPct val="35000"/>
            </a:spcAft>
            <a:buNone/>
          </a:pPr>
          <a:r>
            <a:rPr lang="en-IN" sz="1400" b="1" kern="1200" dirty="0"/>
            <a:t>Top-Down</a:t>
          </a:r>
        </a:p>
        <a:p>
          <a:pPr marL="0" lvl="0" indent="0" algn="ctr" defTabSz="622300">
            <a:lnSpc>
              <a:spcPct val="90000"/>
            </a:lnSpc>
            <a:spcBef>
              <a:spcPct val="0"/>
            </a:spcBef>
            <a:spcAft>
              <a:spcPct val="35000"/>
            </a:spcAft>
            <a:buNone/>
          </a:pPr>
          <a:endParaRPr lang="en-IN" sz="1400" b="1" kern="1200" dirty="0"/>
        </a:p>
        <a:p>
          <a:pPr marL="0" lvl="0" indent="0" algn="ctr" defTabSz="622300">
            <a:lnSpc>
              <a:spcPct val="90000"/>
            </a:lnSpc>
            <a:spcBef>
              <a:spcPct val="0"/>
            </a:spcBef>
            <a:spcAft>
              <a:spcPct val="35000"/>
            </a:spcAft>
            <a:buNone/>
          </a:pPr>
          <a:r>
            <a:rPr lang="en-IN" sz="1400" kern="1200" dirty="0"/>
            <a:t>Enables top</a:t>
          </a:r>
        </a:p>
        <a:p>
          <a:pPr marL="0" lvl="0" indent="0" algn="ctr" defTabSz="622300">
            <a:lnSpc>
              <a:spcPct val="90000"/>
            </a:lnSpc>
            <a:spcBef>
              <a:spcPct val="0"/>
            </a:spcBef>
            <a:spcAft>
              <a:spcPct val="35000"/>
            </a:spcAft>
            <a:buNone/>
          </a:pPr>
          <a:r>
            <a:rPr lang="en-IN" sz="1400" kern="1200" dirty="0"/>
            <a:t> management</a:t>
          </a:r>
        </a:p>
        <a:p>
          <a:pPr marL="0" lvl="0" indent="0" algn="ctr" defTabSz="622300">
            <a:lnSpc>
              <a:spcPct val="90000"/>
            </a:lnSpc>
            <a:spcBef>
              <a:spcPct val="0"/>
            </a:spcBef>
            <a:spcAft>
              <a:spcPct val="35000"/>
            </a:spcAft>
            <a:buNone/>
          </a:pPr>
          <a:r>
            <a:rPr lang="en-IN" sz="1400" kern="1200" dirty="0"/>
            <a:t> to make better </a:t>
          </a:r>
        </a:p>
        <a:p>
          <a:pPr marL="0" lvl="0" indent="0" algn="ctr" defTabSz="622300">
            <a:lnSpc>
              <a:spcPct val="90000"/>
            </a:lnSpc>
            <a:spcBef>
              <a:spcPct val="0"/>
            </a:spcBef>
            <a:spcAft>
              <a:spcPct val="35000"/>
            </a:spcAft>
            <a:buNone/>
          </a:pPr>
          <a:r>
            <a:rPr lang="en-IN" sz="1400" kern="1200" dirty="0"/>
            <a:t>risk based decisions</a:t>
          </a:r>
        </a:p>
      </dsp:txBody>
      <dsp:txXfrm>
        <a:off x="326858" y="10404"/>
        <a:ext cx="2964686" cy="1764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029F4F-7D7E-448F-87A8-8C8F18458A55}">
      <dsp:nvSpPr>
        <dsp:cNvPr id="0" name=""/>
        <dsp:cNvSpPr/>
      </dsp:nvSpPr>
      <dsp:spPr>
        <a:xfrm rot="16200000">
          <a:off x="45201" y="13244"/>
          <a:ext cx="3618402" cy="3528000"/>
        </a:xfrm>
        <a:prstGeom prst="rightArrow">
          <a:avLst/>
        </a:prstGeom>
        <a:solidFill>
          <a:schemeClr val="accent1">
            <a:lumMod val="60000"/>
            <a:lumOff val="40000"/>
            <a:alpha val="61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44A3AE-B491-46BB-B8FA-7067D998036D}">
      <dsp:nvSpPr>
        <dsp:cNvPr id="0" name=""/>
        <dsp:cNvSpPr/>
      </dsp:nvSpPr>
      <dsp:spPr>
        <a:xfrm>
          <a:off x="326858" y="1711465"/>
          <a:ext cx="2964686" cy="176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240" rIns="0" bIns="142240" numCol="1" spcCol="1270" anchor="ctr" anchorCtr="0">
          <a:noAutofit/>
        </a:bodyPr>
        <a:lstStyle/>
        <a:p>
          <a:pPr marL="0" lvl="0" indent="0" algn="ctr" defTabSz="622300">
            <a:lnSpc>
              <a:spcPct val="90000"/>
            </a:lnSpc>
            <a:spcBef>
              <a:spcPct val="0"/>
            </a:spcBef>
            <a:spcAft>
              <a:spcPct val="35000"/>
            </a:spcAft>
            <a:buNone/>
          </a:pPr>
          <a:r>
            <a:rPr lang="en-IN" sz="1400" b="1" kern="1200" dirty="0"/>
            <a:t>Bottom-up</a:t>
          </a:r>
        </a:p>
        <a:p>
          <a:pPr marL="0" lvl="0" indent="0" algn="ctr" defTabSz="622300">
            <a:lnSpc>
              <a:spcPct val="90000"/>
            </a:lnSpc>
            <a:spcBef>
              <a:spcPct val="0"/>
            </a:spcBef>
            <a:spcAft>
              <a:spcPct val="35000"/>
            </a:spcAft>
            <a:buNone/>
          </a:pPr>
          <a:endParaRPr lang="en-IN" sz="1400" b="1" kern="1200" dirty="0"/>
        </a:p>
        <a:p>
          <a:pPr marL="0" lvl="0" indent="0" algn="ctr" defTabSz="622300">
            <a:lnSpc>
              <a:spcPct val="90000"/>
            </a:lnSpc>
            <a:spcBef>
              <a:spcPct val="0"/>
            </a:spcBef>
            <a:spcAft>
              <a:spcPct val="35000"/>
            </a:spcAft>
            <a:buNone/>
          </a:pPr>
          <a:endParaRPr lang="en-IN" sz="1400" b="1" kern="1200" dirty="0"/>
        </a:p>
        <a:p>
          <a:pPr marL="0" lvl="0" indent="0" algn="ctr" defTabSz="622300">
            <a:lnSpc>
              <a:spcPct val="90000"/>
            </a:lnSpc>
            <a:spcBef>
              <a:spcPct val="0"/>
            </a:spcBef>
            <a:spcAft>
              <a:spcPct val="35000"/>
            </a:spcAft>
            <a:buNone/>
          </a:pPr>
          <a:r>
            <a:rPr lang="en-IN" sz="1400" kern="1200" dirty="0"/>
            <a:t>Drives robust </a:t>
          </a:r>
        </a:p>
        <a:p>
          <a:pPr marL="0" lvl="0" indent="0" algn="ctr" defTabSz="622300">
            <a:lnSpc>
              <a:spcPct val="90000"/>
            </a:lnSpc>
            <a:spcBef>
              <a:spcPct val="0"/>
            </a:spcBef>
            <a:spcAft>
              <a:spcPct val="35000"/>
            </a:spcAft>
            <a:buNone/>
          </a:pPr>
          <a:r>
            <a:rPr lang="en-IN" sz="1400" kern="1200" dirty="0"/>
            <a:t>risk management </a:t>
          </a:r>
        </a:p>
        <a:p>
          <a:pPr marL="0" lvl="0" indent="0" algn="ctr" defTabSz="622300">
            <a:lnSpc>
              <a:spcPct val="90000"/>
            </a:lnSpc>
            <a:spcBef>
              <a:spcPct val="0"/>
            </a:spcBef>
            <a:spcAft>
              <a:spcPct val="35000"/>
            </a:spcAft>
            <a:buNone/>
          </a:pPr>
          <a:r>
            <a:rPr lang="en-IN" sz="1400" kern="1200" dirty="0"/>
            <a:t>across the enterprise</a:t>
          </a:r>
        </a:p>
      </dsp:txBody>
      <dsp:txXfrm>
        <a:off x="326858" y="1711465"/>
        <a:ext cx="2964686" cy="176400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D334BDA-703D-A79E-3EF0-A459F59D2C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a:extLst>
              <a:ext uri="{FF2B5EF4-FFF2-40B4-BE49-F238E27FC236}">
                <a16:creationId xmlns:a16="http://schemas.microsoft.com/office/drawing/2014/main" id="{17D0D7DA-00A8-60D4-56C9-16C5AF7930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1C64A03-A0AD-4AAE-B262-C0B6A1B94D38}" type="datetimeFigureOut">
              <a:rPr lang="en-IN" smtClean="0"/>
              <a:t>23-03-2025</a:t>
            </a:fld>
            <a:endParaRPr lang="en-IN" dirty="0"/>
          </a:p>
        </p:txBody>
      </p:sp>
      <p:sp>
        <p:nvSpPr>
          <p:cNvPr id="4" name="Footer Placeholder 3">
            <a:extLst>
              <a:ext uri="{FF2B5EF4-FFF2-40B4-BE49-F238E27FC236}">
                <a16:creationId xmlns:a16="http://schemas.microsoft.com/office/drawing/2014/main" id="{C503D9D4-6D90-2BD3-E408-6FC538F0AEA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5" name="Slide Number Placeholder 4">
            <a:extLst>
              <a:ext uri="{FF2B5EF4-FFF2-40B4-BE49-F238E27FC236}">
                <a16:creationId xmlns:a16="http://schemas.microsoft.com/office/drawing/2014/main" id="{9D94A7CE-DE81-B9A8-FB53-18916D3B4AE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A0C2A1-7231-4FA0-9D94-1DD213DEA92B}" type="slidenum">
              <a:rPr lang="en-IN" smtClean="0"/>
              <a:t>‹#›</a:t>
            </a:fld>
            <a:endParaRPr lang="en-IN" dirty="0"/>
          </a:p>
        </p:txBody>
      </p:sp>
    </p:spTree>
    <p:extLst>
      <p:ext uri="{BB962C8B-B14F-4D97-AF65-F5344CB8AC3E}">
        <p14:creationId xmlns:p14="http://schemas.microsoft.com/office/powerpoint/2010/main" val="20907880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5DB923-18D5-4AD6-9DA6-B0BE754CE00C}" type="datetimeFigureOut">
              <a:rPr lang="en-IN" smtClean="0"/>
              <a:t>23-03-2025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9E038B-C499-4701-A545-23F8DC8C37A3}" type="slidenum">
              <a:rPr lang="en-IN" smtClean="0"/>
              <a:t>‹#›</a:t>
            </a:fld>
            <a:endParaRPr lang="en-IN" dirty="0"/>
          </a:p>
        </p:txBody>
      </p:sp>
    </p:spTree>
    <p:extLst>
      <p:ext uri="{BB962C8B-B14F-4D97-AF65-F5344CB8AC3E}">
        <p14:creationId xmlns:p14="http://schemas.microsoft.com/office/powerpoint/2010/main" val="2223226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29E038B-C499-4701-A545-23F8DC8C37A3}" type="slidenum">
              <a:rPr lang="en-IN" smtClean="0"/>
              <a:t>3</a:t>
            </a:fld>
            <a:endParaRPr lang="en-IN" dirty="0"/>
          </a:p>
        </p:txBody>
      </p:sp>
    </p:spTree>
    <p:extLst>
      <p:ext uri="{BB962C8B-B14F-4D97-AF65-F5344CB8AC3E}">
        <p14:creationId xmlns:p14="http://schemas.microsoft.com/office/powerpoint/2010/main" val="2516189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DF5C9-BEF2-586E-DD1C-59D2220BD0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26F3031-1399-E946-4416-FA513C2011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E80D99E-A5E6-86B8-8AD0-FC47F31120D2}"/>
              </a:ext>
            </a:extLst>
          </p:cNvPr>
          <p:cNvSpPr>
            <a:spLocks noGrp="1"/>
          </p:cNvSpPr>
          <p:nvPr>
            <p:ph type="dt" sz="half" idx="10"/>
          </p:nvPr>
        </p:nvSpPr>
        <p:spPr/>
        <p:txBody>
          <a:bodyPr/>
          <a:lstStyle/>
          <a:p>
            <a:fld id="{16463BF0-3873-45D7-9C23-92DE69FDC46F}" type="datetime1">
              <a:rPr lang="en-IN" smtClean="0"/>
              <a:t>23-03-2025</a:t>
            </a:fld>
            <a:endParaRPr lang="en-IN" dirty="0"/>
          </a:p>
        </p:txBody>
      </p:sp>
      <p:sp>
        <p:nvSpPr>
          <p:cNvPr id="5" name="Footer Placeholder 4">
            <a:extLst>
              <a:ext uri="{FF2B5EF4-FFF2-40B4-BE49-F238E27FC236}">
                <a16:creationId xmlns:a16="http://schemas.microsoft.com/office/drawing/2014/main" id="{0D1D590A-6B80-4E1A-7825-A94D82BD411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1ABB3F2-36EC-BD13-2429-044B3BBC1E64}"/>
              </a:ext>
            </a:extLst>
          </p:cNvPr>
          <p:cNvSpPr>
            <a:spLocks noGrp="1"/>
          </p:cNvSpPr>
          <p:nvPr>
            <p:ph type="sldNum" sz="quarter" idx="12"/>
          </p:nvPr>
        </p:nvSpPr>
        <p:spPr/>
        <p:txBody>
          <a:bodyPr/>
          <a:lstStyle/>
          <a:p>
            <a:fld id="{FD9256D7-CCF9-45DD-9D83-392466C5837E}" type="slidenum">
              <a:rPr lang="en-IN" smtClean="0"/>
              <a:t>‹#›</a:t>
            </a:fld>
            <a:endParaRPr lang="en-IN" dirty="0"/>
          </a:p>
        </p:txBody>
      </p:sp>
    </p:spTree>
    <p:extLst>
      <p:ext uri="{BB962C8B-B14F-4D97-AF65-F5344CB8AC3E}">
        <p14:creationId xmlns:p14="http://schemas.microsoft.com/office/powerpoint/2010/main" val="2347693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6F3DC-254C-CF53-0ED1-4DAF5A60C8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696C53-BF80-D962-654B-78D9015E7C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6454F5-C044-57F8-3D21-C467475D38EF}"/>
              </a:ext>
            </a:extLst>
          </p:cNvPr>
          <p:cNvSpPr>
            <a:spLocks noGrp="1"/>
          </p:cNvSpPr>
          <p:nvPr>
            <p:ph type="dt" sz="half" idx="10"/>
          </p:nvPr>
        </p:nvSpPr>
        <p:spPr/>
        <p:txBody>
          <a:bodyPr/>
          <a:lstStyle/>
          <a:p>
            <a:fld id="{A9685B46-A330-46FA-AADC-A61DB5061009}" type="datetime1">
              <a:rPr lang="en-IN" smtClean="0"/>
              <a:t>23-03-2025</a:t>
            </a:fld>
            <a:endParaRPr lang="en-IN" dirty="0"/>
          </a:p>
        </p:txBody>
      </p:sp>
      <p:sp>
        <p:nvSpPr>
          <p:cNvPr id="5" name="Footer Placeholder 4">
            <a:extLst>
              <a:ext uri="{FF2B5EF4-FFF2-40B4-BE49-F238E27FC236}">
                <a16:creationId xmlns:a16="http://schemas.microsoft.com/office/drawing/2014/main" id="{2C99DCD6-2A48-0EE8-02F5-76DD4D97955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3947898-7472-EFD8-F236-B844848ECD0A}"/>
              </a:ext>
            </a:extLst>
          </p:cNvPr>
          <p:cNvSpPr>
            <a:spLocks noGrp="1"/>
          </p:cNvSpPr>
          <p:nvPr>
            <p:ph type="sldNum" sz="quarter" idx="12"/>
          </p:nvPr>
        </p:nvSpPr>
        <p:spPr/>
        <p:txBody>
          <a:bodyPr/>
          <a:lstStyle/>
          <a:p>
            <a:fld id="{FD9256D7-CCF9-45DD-9D83-392466C5837E}" type="slidenum">
              <a:rPr lang="en-IN" smtClean="0"/>
              <a:t>‹#›</a:t>
            </a:fld>
            <a:endParaRPr lang="en-IN" dirty="0"/>
          </a:p>
        </p:txBody>
      </p:sp>
    </p:spTree>
    <p:extLst>
      <p:ext uri="{BB962C8B-B14F-4D97-AF65-F5344CB8AC3E}">
        <p14:creationId xmlns:p14="http://schemas.microsoft.com/office/powerpoint/2010/main" val="2838696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B2AC6-358C-4B57-113E-49B346CD76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FC5BD96-CF02-3519-40CC-618FA01144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C83C58-D917-0397-D64E-73116B7E20D8}"/>
              </a:ext>
            </a:extLst>
          </p:cNvPr>
          <p:cNvSpPr>
            <a:spLocks noGrp="1"/>
          </p:cNvSpPr>
          <p:nvPr>
            <p:ph type="dt" sz="half" idx="10"/>
          </p:nvPr>
        </p:nvSpPr>
        <p:spPr/>
        <p:txBody>
          <a:bodyPr/>
          <a:lstStyle/>
          <a:p>
            <a:fld id="{685F8F93-FB4E-4BB8-BDDE-CC37B38FAE0F}" type="datetime1">
              <a:rPr lang="en-IN" smtClean="0"/>
              <a:t>23-03-2025</a:t>
            </a:fld>
            <a:endParaRPr lang="en-IN" dirty="0"/>
          </a:p>
        </p:txBody>
      </p:sp>
      <p:sp>
        <p:nvSpPr>
          <p:cNvPr id="5" name="Footer Placeholder 4">
            <a:extLst>
              <a:ext uri="{FF2B5EF4-FFF2-40B4-BE49-F238E27FC236}">
                <a16:creationId xmlns:a16="http://schemas.microsoft.com/office/drawing/2014/main" id="{D12C00A5-6C8A-D7C7-5392-32B77C0B5EA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B1C56BC-CDB6-BCF6-F671-1F4462C0DB1A}"/>
              </a:ext>
            </a:extLst>
          </p:cNvPr>
          <p:cNvSpPr>
            <a:spLocks noGrp="1"/>
          </p:cNvSpPr>
          <p:nvPr>
            <p:ph type="sldNum" sz="quarter" idx="12"/>
          </p:nvPr>
        </p:nvSpPr>
        <p:spPr/>
        <p:txBody>
          <a:bodyPr/>
          <a:lstStyle/>
          <a:p>
            <a:fld id="{FD9256D7-CCF9-45DD-9D83-392466C5837E}" type="slidenum">
              <a:rPr lang="en-IN" smtClean="0"/>
              <a:t>‹#›</a:t>
            </a:fld>
            <a:endParaRPr lang="en-IN" dirty="0"/>
          </a:p>
        </p:txBody>
      </p:sp>
    </p:spTree>
    <p:extLst>
      <p:ext uri="{BB962C8B-B14F-4D97-AF65-F5344CB8AC3E}">
        <p14:creationId xmlns:p14="http://schemas.microsoft.com/office/powerpoint/2010/main" val="1537325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2986D-0135-3FCF-C49F-1D7A9BF2E9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170D17-D8AE-FEF7-FA5E-A1ADB85E2C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97B0841-1BC1-3920-0734-B87BBD6B29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53400EC-C79A-DADF-B77D-24A7916F8604}"/>
              </a:ext>
            </a:extLst>
          </p:cNvPr>
          <p:cNvSpPr>
            <a:spLocks noGrp="1"/>
          </p:cNvSpPr>
          <p:nvPr>
            <p:ph type="dt" sz="half" idx="10"/>
          </p:nvPr>
        </p:nvSpPr>
        <p:spPr/>
        <p:txBody>
          <a:bodyPr/>
          <a:lstStyle/>
          <a:p>
            <a:fld id="{BCF27497-FFCD-46E6-B63D-EC72D06D7169}" type="datetime1">
              <a:rPr lang="en-IN" smtClean="0"/>
              <a:t>23-03-2025</a:t>
            </a:fld>
            <a:endParaRPr lang="en-IN" dirty="0"/>
          </a:p>
        </p:txBody>
      </p:sp>
      <p:sp>
        <p:nvSpPr>
          <p:cNvPr id="6" name="Footer Placeholder 5">
            <a:extLst>
              <a:ext uri="{FF2B5EF4-FFF2-40B4-BE49-F238E27FC236}">
                <a16:creationId xmlns:a16="http://schemas.microsoft.com/office/drawing/2014/main" id="{7B4322AA-CE92-8A25-0ACF-EEB73B0BF59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DF2DDC1C-57CF-2A59-FE76-70817165CD20}"/>
              </a:ext>
            </a:extLst>
          </p:cNvPr>
          <p:cNvSpPr>
            <a:spLocks noGrp="1"/>
          </p:cNvSpPr>
          <p:nvPr>
            <p:ph type="sldNum" sz="quarter" idx="12"/>
          </p:nvPr>
        </p:nvSpPr>
        <p:spPr/>
        <p:txBody>
          <a:bodyPr/>
          <a:lstStyle/>
          <a:p>
            <a:fld id="{FD9256D7-CCF9-45DD-9D83-392466C5837E}" type="slidenum">
              <a:rPr lang="en-IN" smtClean="0"/>
              <a:t>‹#›</a:t>
            </a:fld>
            <a:endParaRPr lang="en-IN" dirty="0"/>
          </a:p>
        </p:txBody>
      </p:sp>
    </p:spTree>
    <p:extLst>
      <p:ext uri="{BB962C8B-B14F-4D97-AF65-F5344CB8AC3E}">
        <p14:creationId xmlns:p14="http://schemas.microsoft.com/office/powerpoint/2010/main" val="1000123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16716-DBD1-2BC8-0F29-823D3EF1C33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C0965E-0F3B-D5C1-445B-3ED0C13338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A57EB7-1AB6-FDF7-8445-7F4BAAAE8F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3ED6256-8A70-20E0-2F31-380F1106C6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272282-EF96-81DD-E6E6-0393C3D2CF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BF50A40-C890-A05A-D0F3-D749A2852424}"/>
              </a:ext>
            </a:extLst>
          </p:cNvPr>
          <p:cNvSpPr>
            <a:spLocks noGrp="1"/>
          </p:cNvSpPr>
          <p:nvPr>
            <p:ph type="dt" sz="half" idx="10"/>
          </p:nvPr>
        </p:nvSpPr>
        <p:spPr/>
        <p:txBody>
          <a:bodyPr/>
          <a:lstStyle/>
          <a:p>
            <a:fld id="{278E038C-FB37-4477-819C-F59865D7FCEA}" type="datetime1">
              <a:rPr lang="en-IN" smtClean="0"/>
              <a:t>23-03-2025</a:t>
            </a:fld>
            <a:endParaRPr lang="en-IN" dirty="0"/>
          </a:p>
        </p:txBody>
      </p:sp>
      <p:sp>
        <p:nvSpPr>
          <p:cNvPr id="8" name="Footer Placeholder 7">
            <a:extLst>
              <a:ext uri="{FF2B5EF4-FFF2-40B4-BE49-F238E27FC236}">
                <a16:creationId xmlns:a16="http://schemas.microsoft.com/office/drawing/2014/main" id="{421EC9DE-EC1E-6CFF-5470-D06729D2525E}"/>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ACC2B59B-154F-1E92-8082-3893F853CC03}"/>
              </a:ext>
            </a:extLst>
          </p:cNvPr>
          <p:cNvSpPr>
            <a:spLocks noGrp="1"/>
          </p:cNvSpPr>
          <p:nvPr>
            <p:ph type="sldNum" sz="quarter" idx="12"/>
          </p:nvPr>
        </p:nvSpPr>
        <p:spPr/>
        <p:txBody>
          <a:bodyPr/>
          <a:lstStyle/>
          <a:p>
            <a:fld id="{FD9256D7-CCF9-45DD-9D83-392466C5837E}" type="slidenum">
              <a:rPr lang="en-IN" smtClean="0"/>
              <a:t>‹#›</a:t>
            </a:fld>
            <a:endParaRPr lang="en-IN" dirty="0"/>
          </a:p>
        </p:txBody>
      </p:sp>
    </p:spTree>
    <p:extLst>
      <p:ext uri="{BB962C8B-B14F-4D97-AF65-F5344CB8AC3E}">
        <p14:creationId xmlns:p14="http://schemas.microsoft.com/office/powerpoint/2010/main" val="570379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275E-E686-D3CE-559D-10B4C43B41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94989B-8452-B5C5-A0D7-4C92E701DEC0}"/>
              </a:ext>
            </a:extLst>
          </p:cNvPr>
          <p:cNvSpPr>
            <a:spLocks noGrp="1"/>
          </p:cNvSpPr>
          <p:nvPr>
            <p:ph type="dt" sz="half" idx="10"/>
          </p:nvPr>
        </p:nvSpPr>
        <p:spPr/>
        <p:txBody>
          <a:bodyPr/>
          <a:lstStyle/>
          <a:p>
            <a:fld id="{FC621065-4EB9-4DBE-BE0C-05A5727DEB06}" type="datetime1">
              <a:rPr lang="en-IN" smtClean="0"/>
              <a:t>23-03-2025</a:t>
            </a:fld>
            <a:endParaRPr lang="en-IN" dirty="0"/>
          </a:p>
        </p:txBody>
      </p:sp>
      <p:sp>
        <p:nvSpPr>
          <p:cNvPr id="4" name="Footer Placeholder 3">
            <a:extLst>
              <a:ext uri="{FF2B5EF4-FFF2-40B4-BE49-F238E27FC236}">
                <a16:creationId xmlns:a16="http://schemas.microsoft.com/office/drawing/2014/main" id="{101C6810-2497-776A-5A22-93CF67CFC9F6}"/>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39F9C650-B5CF-BCD6-995B-A2D6D91453ED}"/>
              </a:ext>
            </a:extLst>
          </p:cNvPr>
          <p:cNvSpPr>
            <a:spLocks noGrp="1"/>
          </p:cNvSpPr>
          <p:nvPr>
            <p:ph type="sldNum" sz="quarter" idx="12"/>
          </p:nvPr>
        </p:nvSpPr>
        <p:spPr/>
        <p:txBody>
          <a:bodyPr/>
          <a:lstStyle/>
          <a:p>
            <a:fld id="{FD9256D7-CCF9-45DD-9D83-392466C5837E}" type="slidenum">
              <a:rPr lang="en-IN" smtClean="0"/>
              <a:t>‹#›</a:t>
            </a:fld>
            <a:endParaRPr lang="en-IN" dirty="0"/>
          </a:p>
        </p:txBody>
      </p:sp>
    </p:spTree>
    <p:extLst>
      <p:ext uri="{BB962C8B-B14F-4D97-AF65-F5344CB8AC3E}">
        <p14:creationId xmlns:p14="http://schemas.microsoft.com/office/powerpoint/2010/main" val="1279418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87235B-E476-A160-1E3E-CE0B59B238AE}"/>
              </a:ext>
            </a:extLst>
          </p:cNvPr>
          <p:cNvSpPr>
            <a:spLocks noGrp="1"/>
          </p:cNvSpPr>
          <p:nvPr>
            <p:ph type="dt" sz="half" idx="10"/>
          </p:nvPr>
        </p:nvSpPr>
        <p:spPr/>
        <p:txBody>
          <a:bodyPr/>
          <a:lstStyle/>
          <a:p>
            <a:fld id="{27279FAB-2601-4AF4-A5B7-74179798D1D8}" type="datetime1">
              <a:rPr lang="en-IN" smtClean="0"/>
              <a:t>23-03-2025</a:t>
            </a:fld>
            <a:endParaRPr lang="en-IN" dirty="0"/>
          </a:p>
        </p:txBody>
      </p:sp>
      <p:sp>
        <p:nvSpPr>
          <p:cNvPr id="3" name="Footer Placeholder 2">
            <a:extLst>
              <a:ext uri="{FF2B5EF4-FFF2-40B4-BE49-F238E27FC236}">
                <a16:creationId xmlns:a16="http://schemas.microsoft.com/office/drawing/2014/main" id="{C4628513-E83A-41AA-1906-A5BCE2B5FD11}"/>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A9E09F60-F413-EF7D-1B3E-71294E7DF6FB}"/>
              </a:ext>
            </a:extLst>
          </p:cNvPr>
          <p:cNvSpPr>
            <a:spLocks noGrp="1"/>
          </p:cNvSpPr>
          <p:nvPr>
            <p:ph type="sldNum" sz="quarter" idx="12"/>
          </p:nvPr>
        </p:nvSpPr>
        <p:spPr/>
        <p:txBody>
          <a:bodyPr/>
          <a:lstStyle/>
          <a:p>
            <a:fld id="{FD9256D7-CCF9-45DD-9D83-392466C5837E}" type="slidenum">
              <a:rPr lang="en-IN" smtClean="0"/>
              <a:t>‹#›</a:t>
            </a:fld>
            <a:endParaRPr lang="en-IN" dirty="0"/>
          </a:p>
        </p:txBody>
      </p:sp>
    </p:spTree>
    <p:extLst>
      <p:ext uri="{BB962C8B-B14F-4D97-AF65-F5344CB8AC3E}">
        <p14:creationId xmlns:p14="http://schemas.microsoft.com/office/powerpoint/2010/main" val="682783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51740-D76E-FC78-4DA4-05CA8269AC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4447DFD-9E05-C8ED-C65A-2BE4CBF771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358FF03-A813-14B3-0C2F-0A4F67F5F3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83F717-ECEF-ED88-40B1-24F481C08BEA}"/>
              </a:ext>
            </a:extLst>
          </p:cNvPr>
          <p:cNvSpPr>
            <a:spLocks noGrp="1"/>
          </p:cNvSpPr>
          <p:nvPr>
            <p:ph type="dt" sz="half" idx="10"/>
          </p:nvPr>
        </p:nvSpPr>
        <p:spPr/>
        <p:txBody>
          <a:bodyPr/>
          <a:lstStyle/>
          <a:p>
            <a:fld id="{A3A39AEE-5B7E-4C37-8B88-D1CEB8C2AF94}" type="datetime1">
              <a:rPr lang="en-IN" smtClean="0"/>
              <a:t>23-03-2025</a:t>
            </a:fld>
            <a:endParaRPr lang="en-IN" dirty="0"/>
          </a:p>
        </p:txBody>
      </p:sp>
      <p:sp>
        <p:nvSpPr>
          <p:cNvPr id="6" name="Footer Placeholder 5">
            <a:extLst>
              <a:ext uri="{FF2B5EF4-FFF2-40B4-BE49-F238E27FC236}">
                <a16:creationId xmlns:a16="http://schemas.microsoft.com/office/drawing/2014/main" id="{DD2C3DF7-9803-B544-525A-449F737AD726}"/>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9525AD2-ECD5-0008-5BB6-058D54079DCB}"/>
              </a:ext>
            </a:extLst>
          </p:cNvPr>
          <p:cNvSpPr>
            <a:spLocks noGrp="1"/>
          </p:cNvSpPr>
          <p:nvPr>
            <p:ph type="sldNum" sz="quarter" idx="12"/>
          </p:nvPr>
        </p:nvSpPr>
        <p:spPr/>
        <p:txBody>
          <a:bodyPr/>
          <a:lstStyle/>
          <a:p>
            <a:fld id="{FD9256D7-CCF9-45DD-9D83-392466C5837E}" type="slidenum">
              <a:rPr lang="en-IN" smtClean="0"/>
              <a:t>‹#›</a:t>
            </a:fld>
            <a:endParaRPr lang="en-IN" dirty="0"/>
          </a:p>
        </p:txBody>
      </p:sp>
    </p:spTree>
    <p:extLst>
      <p:ext uri="{BB962C8B-B14F-4D97-AF65-F5344CB8AC3E}">
        <p14:creationId xmlns:p14="http://schemas.microsoft.com/office/powerpoint/2010/main" val="1141173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0C242-93A1-5259-4F91-5ED87DE3AB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90A683F-0012-CF03-89AF-F24C5F6406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60CE5861-A37B-4615-FAA6-C4978AFC00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40E3CD-3C19-7E3D-BD21-2A1FFF69E47A}"/>
              </a:ext>
            </a:extLst>
          </p:cNvPr>
          <p:cNvSpPr>
            <a:spLocks noGrp="1"/>
          </p:cNvSpPr>
          <p:nvPr>
            <p:ph type="dt" sz="half" idx="10"/>
          </p:nvPr>
        </p:nvSpPr>
        <p:spPr/>
        <p:txBody>
          <a:bodyPr/>
          <a:lstStyle/>
          <a:p>
            <a:fld id="{4C08882C-A8E8-4D7F-983F-74A02AD21BDB}" type="datetime1">
              <a:rPr lang="en-IN" smtClean="0"/>
              <a:t>23-03-2025</a:t>
            </a:fld>
            <a:endParaRPr lang="en-IN" dirty="0"/>
          </a:p>
        </p:txBody>
      </p:sp>
      <p:sp>
        <p:nvSpPr>
          <p:cNvPr id="6" name="Footer Placeholder 5">
            <a:extLst>
              <a:ext uri="{FF2B5EF4-FFF2-40B4-BE49-F238E27FC236}">
                <a16:creationId xmlns:a16="http://schemas.microsoft.com/office/drawing/2014/main" id="{17901CCF-A23C-C503-446B-BF8960D448A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68A562B2-EAAD-0946-1FBF-1382FE06E567}"/>
              </a:ext>
            </a:extLst>
          </p:cNvPr>
          <p:cNvSpPr>
            <a:spLocks noGrp="1"/>
          </p:cNvSpPr>
          <p:nvPr>
            <p:ph type="sldNum" sz="quarter" idx="12"/>
          </p:nvPr>
        </p:nvSpPr>
        <p:spPr/>
        <p:txBody>
          <a:bodyPr/>
          <a:lstStyle/>
          <a:p>
            <a:fld id="{FD9256D7-CCF9-45DD-9D83-392466C5837E}" type="slidenum">
              <a:rPr lang="en-IN" smtClean="0"/>
              <a:t>‹#›</a:t>
            </a:fld>
            <a:endParaRPr lang="en-IN" dirty="0"/>
          </a:p>
        </p:txBody>
      </p:sp>
    </p:spTree>
    <p:extLst>
      <p:ext uri="{BB962C8B-B14F-4D97-AF65-F5344CB8AC3E}">
        <p14:creationId xmlns:p14="http://schemas.microsoft.com/office/powerpoint/2010/main" val="2386071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2297D-4995-A5A8-0C93-874B35152C0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DB9396-E3DB-BA2A-FB5A-38D7BC7E4F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0FB292-5B58-54AE-14C6-5DC3B7B38B31}"/>
              </a:ext>
            </a:extLst>
          </p:cNvPr>
          <p:cNvSpPr>
            <a:spLocks noGrp="1"/>
          </p:cNvSpPr>
          <p:nvPr>
            <p:ph type="dt" sz="half" idx="10"/>
          </p:nvPr>
        </p:nvSpPr>
        <p:spPr/>
        <p:txBody>
          <a:bodyPr/>
          <a:lstStyle/>
          <a:p>
            <a:fld id="{9726684A-72E0-4647-9024-4A125447CF5F}" type="datetime1">
              <a:rPr lang="en-IN" smtClean="0"/>
              <a:t>23-03-2025</a:t>
            </a:fld>
            <a:endParaRPr lang="en-IN" dirty="0"/>
          </a:p>
        </p:txBody>
      </p:sp>
      <p:sp>
        <p:nvSpPr>
          <p:cNvPr id="5" name="Footer Placeholder 4">
            <a:extLst>
              <a:ext uri="{FF2B5EF4-FFF2-40B4-BE49-F238E27FC236}">
                <a16:creationId xmlns:a16="http://schemas.microsoft.com/office/drawing/2014/main" id="{7B24114B-86D9-3A87-E94B-68D10F5CC24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2F0281B-65F6-68C3-89BB-787B301A59A4}"/>
              </a:ext>
            </a:extLst>
          </p:cNvPr>
          <p:cNvSpPr>
            <a:spLocks noGrp="1"/>
          </p:cNvSpPr>
          <p:nvPr>
            <p:ph type="sldNum" sz="quarter" idx="12"/>
          </p:nvPr>
        </p:nvSpPr>
        <p:spPr/>
        <p:txBody>
          <a:bodyPr/>
          <a:lstStyle/>
          <a:p>
            <a:fld id="{FD9256D7-CCF9-45DD-9D83-392466C5837E}" type="slidenum">
              <a:rPr lang="en-IN" smtClean="0"/>
              <a:t>‹#›</a:t>
            </a:fld>
            <a:endParaRPr lang="en-IN" dirty="0"/>
          </a:p>
        </p:txBody>
      </p:sp>
    </p:spTree>
    <p:extLst>
      <p:ext uri="{BB962C8B-B14F-4D97-AF65-F5344CB8AC3E}">
        <p14:creationId xmlns:p14="http://schemas.microsoft.com/office/powerpoint/2010/main" val="4108265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CC2D1-A887-1394-3618-8FCEAE86340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ABBD6B-1C09-168B-A577-CAF331C6F9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A9E79A-6972-7739-1701-12C4DF6D858A}"/>
              </a:ext>
            </a:extLst>
          </p:cNvPr>
          <p:cNvSpPr>
            <a:spLocks noGrp="1"/>
          </p:cNvSpPr>
          <p:nvPr>
            <p:ph type="dt" sz="half" idx="10"/>
          </p:nvPr>
        </p:nvSpPr>
        <p:spPr/>
        <p:txBody>
          <a:bodyPr/>
          <a:lstStyle/>
          <a:p>
            <a:fld id="{A3AAC107-6B45-4F34-905D-6B8DCF3C72FA}" type="datetime1">
              <a:rPr lang="en-IN" smtClean="0"/>
              <a:t>23-03-2025</a:t>
            </a:fld>
            <a:endParaRPr lang="en-IN" dirty="0"/>
          </a:p>
        </p:txBody>
      </p:sp>
      <p:sp>
        <p:nvSpPr>
          <p:cNvPr id="5" name="Footer Placeholder 4">
            <a:extLst>
              <a:ext uri="{FF2B5EF4-FFF2-40B4-BE49-F238E27FC236}">
                <a16:creationId xmlns:a16="http://schemas.microsoft.com/office/drawing/2014/main" id="{FB113B81-050E-E718-D322-E2D97C07292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B3FFFF7-B5B0-8E06-932C-95841DEEE9C7}"/>
              </a:ext>
            </a:extLst>
          </p:cNvPr>
          <p:cNvSpPr>
            <a:spLocks noGrp="1"/>
          </p:cNvSpPr>
          <p:nvPr>
            <p:ph type="sldNum" sz="quarter" idx="12"/>
          </p:nvPr>
        </p:nvSpPr>
        <p:spPr/>
        <p:txBody>
          <a:bodyPr/>
          <a:lstStyle/>
          <a:p>
            <a:fld id="{FD9256D7-CCF9-45DD-9D83-392466C5837E}" type="slidenum">
              <a:rPr lang="en-IN" smtClean="0"/>
              <a:t>‹#›</a:t>
            </a:fld>
            <a:endParaRPr lang="en-IN" dirty="0"/>
          </a:p>
        </p:txBody>
      </p:sp>
    </p:spTree>
    <p:extLst>
      <p:ext uri="{BB962C8B-B14F-4D97-AF65-F5344CB8AC3E}">
        <p14:creationId xmlns:p14="http://schemas.microsoft.com/office/powerpoint/2010/main" val="396570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842C45-5940-17B9-864A-952F173C71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CEE471-B0D7-FC2E-D4F8-DE55BEC417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4B51E7-DA51-4487-1B4F-42758B5787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8D12C8-66EE-4EA2-8096-A52D0BA76F39}" type="datetime1">
              <a:rPr lang="en-IN" smtClean="0"/>
              <a:t>23-03-2025</a:t>
            </a:fld>
            <a:endParaRPr lang="en-IN" dirty="0"/>
          </a:p>
        </p:txBody>
      </p:sp>
      <p:sp>
        <p:nvSpPr>
          <p:cNvPr id="5" name="Footer Placeholder 4">
            <a:extLst>
              <a:ext uri="{FF2B5EF4-FFF2-40B4-BE49-F238E27FC236}">
                <a16:creationId xmlns:a16="http://schemas.microsoft.com/office/drawing/2014/main" id="{4BB3EF49-DB26-DC04-D97B-37A62E7375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5000169E-5429-0ACA-23C2-953E6726D5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256D7-CCF9-45DD-9D83-392466C5837E}" type="slidenum">
              <a:rPr lang="en-IN" smtClean="0"/>
              <a:t>‹#›</a:t>
            </a:fld>
            <a:endParaRPr lang="en-IN" dirty="0"/>
          </a:p>
        </p:txBody>
      </p:sp>
    </p:spTree>
    <p:extLst>
      <p:ext uri="{BB962C8B-B14F-4D97-AF65-F5344CB8AC3E}">
        <p14:creationId xmlns:p14="http://schemas.microsoft.com/office/powerpoint/2010/main" val="3411115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linkedin.com/pulse/risk-control-self-assessment-rcsa-strategic-imperative-zvy2f/" TargetMode="External"/><Relationship Id="rId2" Type="http://schemas.openxmlformats.org/officeDocument/2006/relationships/hyperlink" Target="https://riskcue.id/uploads/ebook/20211013112039-2021-10-13ebook112026.pdf" TargetMode="Externa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hyperlink" Target="https://www.wolterskluwer.com/en/expert-insights/risk-and-controls-self-assessment-rcsa-best-practices#:~:text=Risk%20and%20Controls%20Self%2DAssessment%20(RCSA)%20is%20a%20cornerstone,operations%20align%20with%20strategic%20objective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7572A33-AF0E-31FE-8C2C-5FEDEB2E3540}"/>
              </a:ext>
            </a:extLst>
          </p:cNvPr>
          <p:cNvSpPr txBox="1"/>
          <p:nvPr/>
        </p:nvSpPr>
        <p:spPr>
          <a:xfrm>
            <a:off x="3023937" y="2710213"/>
            <a:ext cx="6144126" cy="1323439"/>
          </a:xfrm>
          <a:prstGeom prst="rect">
            <a:avLst/>
          </a:prstGeom>
          <a:noFill/>
        </p:spPr>
        <p:txBody>
          <a:bodyPr wrap="square" rtlCol="0">
            <a:spAutoFit/>
          </a:bodyPr>
          <a:lstStyle/>
          <a:p>
            <a:pPr algn="ctr"/>
            <a:r>
              <a:rPr lang="en-IN" sz="3200" b="1" dirty="0"/>
              <a:t>Amazon RCSA Report</a:t>
            </a:r>
          </a:p>
          <a:p>
            <a:pPr algn="ctr"/>
            <a:r>
              <a:rPr lang="en-IN" sz="2400" dirty="0"/>
              <a:t>Risk and Control Self Assessment for cybersecurity &amp; Regulatory risks</a:t>
            </a:r>
          </a:p>
        </p:txBody>
      </p:sp>
      <p:sp>
        <p:nvSpPr>
          <p:cNvPr id="5" name="TextBox 4">
            <a:extLst>
              <a:ext uri="{FF2B5EF4-FFF2-40B4-BE49-F238E27FC236}">
                <a16:creationId xmlns:a16="http://schemas.microsoft.com/office/drawing/2014/main" id="{D582A248-878A-182C-99AA-C076DC98E646}"/>
              </a:ext>
            </a:extLst>
          </p:cNvPr>
          <p:cNvSpPr txBox="1"/>
          <p:nvPr/>
        </p:nvSpPr>
        <p:spPr>
          <a:xfrm>
            <a:off x="176463" y="5358062"/>
            <a:ext cx="4796590" cy="1200329"/>
          </a:xfrm>
          <a:prstGeom prst="rect">
            <a:avLst/>
          </a:prstGeom>
          <a:noFill/>
        </p:spPr>
        <p:txBody>
          <a:bodyPr wrap="square" rtlCol="0">
            <a:spAutoFit/>
          </a:bodyPr>
          <a:lstStyle/>
          <a:p>
            <a:r>
              <a:rPr lang="en-IN" dirty="0"/>
              <a:t>Name: Vanya Sharma</a:t>
            </a:r>
          </a:p>
          <a:p>
            <a:r>
              <a:rPr lang="en-IN" dirty="0"/>
              <a:t>UNI: vs2954</a:t>
            </a:r>
          </a:p>
          <a:p>
            <a:r>
              <a:rPr lang="en-IN" dirty="0"/>
              <a:t>Operational Risk Management</a:t>
            </a:r>
          </a:p>
          <a:p>
            <a:r>
              <a:rPr lang="en-IN" dirty="0"/>
              <a:t>March 24</a:t>
            </a:r>
            <a:r>
              <a:rPr lang="en-IN" baseline="30000" dirty="0"/>
              <a:t>th</a:t>
            </a:r>
            <a:r>
              <a:rPr lang="en-IN" dirty="0"/>
              <a:t>, 2025</a:t>
            </a:r>
          </a:p>
        </p:txBody>
      </p:sp>
      <p:pic>
        <p:nvPicPr>
          <p:cNvPr id="2050" name="Picture 2" descr="Amazon brand usage guidelines for 3-party display ads | Amazon Ads">
            <a:extLst>
              <a:ext uri="{FF2B5EF4-FFF2-40B4-BE49-F238E27FC236}">
                <a16:creationId xmlns:a16="http://schemas.microsoft.com/office/drawing/2014/main" id="{CA9FFE1A-63D3-A333-8554-963DBCA98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505" y="342259"/>
            <a:ext cx="3463448" cy="1043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7832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63389-D9ED-82B1-46EC-B59ADA8CF39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51B3A9B-2439-8E20-80DC-2AEAA0A15403}"/>
              </a:ext>
            </a:extLst>
          </p:cNvPr>
          <p:cNvSpPr txBox="1"/>
          <p:nvPr/>
        </p:nvSpPr>
        <p:spPr>
          <a:xfrm>
            <a:off x="256673" y="256674"/>
            <a:ext cx="5069305" cy="369332"/>
          </a:xfrm>
          <a:prstGeom prst="rect">
            <a:avLst/>
          </a:prstGeom>
          <a:noFill/>
        </p:spPr>
        <p:txBody>
          <a:bodyPr wrap="square" rtlCol="0">
            <a:spAutoFit/>
          </a:bodyPr>
          <a:lstStyle/>
          <a:p>
            <a:r>
              <a:rPr lang="en-IN" b="1" u="sng" dirty="0"/>
              <a:t>2. INTRODUCTION TO RCSA &amp; AMAZON OVERVIEW</a:t>
            </a:r>
          </a:p>
        </p:txBody>
      </p:sp>
      <p:sp>
        <p:nvSpPr>
          <p:cNvPr id="3" name="TextBox 2">
            <a:extLst>
              <a:ext uri="{FF2B5EF4-FFF2-40B4-BE49-F238E27FC236}">
                <a16:creationId xmlns:a16="http://schemas.microsoft.com/office/drawing/2014/main" id="{E68C5962-F345-8459-E807-8CDD4CA9B308}"/>
              </a:ext>
            </a:extLst>
          </p:cNvPr>
          <p:cNvSpPr txBox="1"/>
          <p:nvPr/>
        </p:nvSpPr>
        <p:spPr>
          <a:xfrm>
            <a:off x="256673" y="745958"/>
            <a:ext cx="7940843" cy="5909310"/>
          </a:xfrm>
          <a:prstGeom prst="rect">
            <a:avLst/>
          </a:prstGeom>
          <a:noFill/>
        </p:spPr>
        <p:txBody>
          <a:bodyPr wrap="square" rtlCol="0">
            <a:spAutoFit/>
          </a:bodyPr>
          <a:lstStyle/>
          <a:p>
            <a:r>
              <a:rPr lang="en-IN" b="1" dirty="0"/>
              <a:t>2.1 (a) What is RCSA</a:t>
            </a:r>
          </a:p>
          <a:p>
            <a:r>
              <a:rPr lang="en-IN" dirty="0"/>
              <a:t>An RCSA is a systematic process for identifying, evaluating, prioritizing risks and controls within operations such as business units, audit or entity of an organisation.</a:t>
            </a:r>
          </a:p>
          <a:p>
            <a:r>
              <a:rPr lang="en-IN" dirty="0"/>
              <a:t>The tool enables organisations to assess preparedness for potential challenges. Engaging in RCSA helps companies gain valuable insights into risk environment, ensuring appropriate controls are in place to mitigate potential issues and enhance operational resilience.</a:t>
            </a:r>
          </a:p>
          <a:p>
            <a:endParaRPr lang="en-IN" dirty="0"/>
          </a:p>
          <a:p>
            <a:r>
              <a:rPr lang="en-IN" b="1" dirty="0"/>
              <a:t>2.1 (b) Importance of RCSA</a:t>
            </a:r>
          </a:p>
          <a:p>
            <a:r>
              <a:rPr lang="en-IN" dirty="0"/>
              <a:t>RCSAs empower organisations to proactively identify, assess and mitigate risks, ensuring operations align with strategic objectives. By ensuring all teams are focused on shared goals, the organisation will achieve its strategic objectives and maintain a proactive approach to risk management within the evolving industry.</a:t>
            </a:r>
          </a:p>
          <a:p>
            <a:endParaRPr lang="en-IN" dirty="0"/>
          </a:p>
          <a:p>
            <a:r>
              <a:rPr lang="en-IN" b="1" dirty="0"/>
              <a:t>2.1 (c) Key components of RCSA</a:t>
            </a:r>
          </a:p>
          <a:p>
            <a:r>
              <a:rPr lang="en-IN" dirty="0"/>
              <a:t>Risk identification: Recognising potential threats to an organisation</a:t>
            </a:r>
          </a:p>
          <a:p>
            <a:r>
              <a:rPr lang="en-IN" dirty="0"/>
              <a:t>Risk assessment: Risks need to be assessed to understand impact and likelihood</a:t>
            </a:r>
          </a:p>
          <a:p>
            <a:r>
              <a:rPr lang="en-IN" dirty="0"/>
              <a:t>Risk monitoring: Track effectiveness of risk mitigation strategies</a:t>
            </a:r>
          </a:p>
          <a:p>
            <a:r>
              <a:rPr lang="en-IN" dirty="0"/>
              <a:t>Risk measurement: Quantify potential impact and likelihood using probability and impact assessment </a:t>
            </a:r>
          </a:p>
          <a:p>
            <a:r>
              <a:rPr lang="en-IN" dirty="0"/>
              <a:t>Risk remediation: Implementing strategies to address identified risks </a:t>
            </a:r>
          </a:p>
        </p:txBody>
      </p:sp>
      <p:pic>
        <p:nvPicPr>
          <p:cNvPr id="1026" name="Picture 2" descr="Risk Management – Fiction2Fact">
            <a:extLst>
              <a:ext uri="{FF2B5EF4-FFF2-40B4-BE49-F238E27FC236}">
                <a16:creationId xmlns:a16="http://schemas.microsoft.com/office/drawing/2014/main" id="{C441B2AF-8F3B-95B8-2E4E-5601B98452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8575" y="1676724"/>
            <a:ext cx="3469507" cy="3504552"/>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a:extLst>
              <a:ext uri="{FF2B5EF4-FFF2-40B4-BE49-F238E27FC236}">
                <a16:creationId xmlns:a16="http://schemas.microsoft.com/office/drawing/2014/main" id="{63D5884A-C5AD-4612-88DF-E678427E1D44}"/>
              </a:ext>
            </a:extLst>
          </p:cNvPr>
          <p:cNvSpPr>
            <a:spLocks noGrp="1"/>
          </p:cNvSpPr>
          <p:nvPr>
            <p:ph type="sldNum" sz="quarter" idx="12"/>
          </p:nvPr>
        </p:nvSpPr>
        <p:spPr/>
        <p:txBody>
          <a:bodyPr/>
          <a:lstStyle/>
          <a:p>
            <a:fld id="{FD9256D7-CCF9-45DD-9D83-392466C5837E}" type="slidenum">
              <a:rPr lang="en-IN" smtClean="0"/>
              <a:t>2</a:t>
            </a:fld>
            <a:endParaRPr lang="en-IN" dirty="0"/>
          </a:p>
        </p:txBody>
      </p:sp>
      <p:pic>
        <p:nvPicPr>
          <p:cNvPr id="9" name="Picture 2" descr="Amazon brand usage guidelines for 3-party display ads | Amazon Ads">
            <a:extLst>
              <a:ext uri="{FF2B5EF4-FFF2-40B4-BE49-F238E27FC236}">
                <a16:creationId xmlns:a16="http://schemas.microsoft.com/office/drawing/2014/main" id="{9596D63A-E3E6-AF75-AF6D-459F52F2B4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53800" y="6612969"/>
            <a:ext cx="720248" cy="217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3199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1A395-181F-C604-A932-B1CECB287E2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7E83CF7-93FE-16FA-F4B1-B35D05391041}"/>
              </a:ext>
            </a:extLst>
          </p:cNvPr>
          <p:cNvSpPr txBox="1"/>
          <p:nvPr/>
        </p:nvSpPr>
        <p:spPr>
          <a:xfrm>
            <a:off x="256673" y="256674"/>
            <a:ext cx="5069305" cy="369332"/>
          </a:xfrm>
          <a:prstGeom prst="rect">
            <a:avLst/>
          </a:prstGeom>
          <a:noFill/>
        </p:spPr>
        <p:txBody>
          <a:bodyPr wrap="square" rtlCol="0">
            <a:spAutoFit/>
          </a:bodyPr>
          <a:lstStyle/>
          <a:p>
            <a:r>
              <a:rPr lang="en-IN" b="1" dirty="0"/>
              <a:t>2. </a:t>
            </a:r>
            <a:r>
              <a:rPr lang="en-IN" b="1" u="sng" dirty="0"/>
              <a:t>INTRODUCTION TO RCSA &amp; AMAZON OVERVIEW</a:t>
            </a:r>
          </a:p>
        </p:txBody>
      </p:sp>
      <p:sp>
        <p:nvSpPr>
          <p:cNvPr id="3" name="TextBox 2">
            <a:extLst>
              <a:ext uri="{FF2B5EF4-FFF2-40B4-BE49-F238E27FC236}">
                <a16:creationId xmlns:a16="http://schemas.microsoft.com/office/drawing/2014/main" id="{92422581-10D1-D057-6024-EB6F41986A59}"/>
              </a:ext>
            </a:extLst>
          </p:cNvPr>
          <p:cNvSpPr txBox="1"/>
          <p:nvPr/>
        </p:nvSpPr>
        <p:spPr>
          <a:xfrm>
            <a:off x="256673" y="745958"/>
            <a:ext cx="5069305" cy="369332"/>
          </a:xfrm>
          <a:prstGeom prst="rect">
            <a:avLst/>
          </a:prstGeom>
          <a:noFill/>
        </p:spPr>
        <p:txBody>
          <a:bodyPr wrap="square" rtlCol="0">
            <a:spAutoFit/>
          </a:bodyPr>
          <a:lstStyle/>
          <a:p>
            <a:r>
              <a:rPr lang="en-IN" b="1" dirty="0"/>
              <a:t>2.2 Amazon business overview</a:t>
            </a:r>
          </a:p>
        </p:txBody>
      </p:sp>
      <p:sp>
        <p:nvSpPr>
          <p:cNvPr id="6" name="Slide Number Placeholder 5">
            <a:extLst>
              <a:ext uri="{FF2B5EF4-FFF2-40B4-BE49-F238E27FC236}">
                <a16:creationId xmlns:a16="http://schemas.microsoft.com/office/drawing/2014/main" id="{8C240C05-1713-5285-AA98-56CBD3EB9E34}"/>
              </a:ext>
            </a:extLst>
          </p:cNvPr>
          <p:cNvSpPr>
            <a:spLocks noGrp="1"/>
          </p:cNvSpPr>
          <p:nvPr>
            <p:ph type="sldNum" sz="quarter" idx="12"/>
          </p:nvPr>
        </p:nvSpPr>
        <p:spPr/>
        <p:txBody>
          <a:bodyPr/>
          <a:lstStyle/>
          <a:p>
            <a:fld id="{FD9256D7-CCF9-45DD-9D83-392466C5837E}" type="slidenum">
              <a:rPr lang="en-IN" smtClean="0"/>
              <a:t>3</a:t>
            </a:fld>
            <a:endParaRPr lang="en-IN" dirty="0"/>
          </a:p>
        </p:txBody>
      </p:sp>
      <p:pic>
        <p:nvPicPr>
          <p:cNvPr id="13314" name="Picture 2">
            <a:extLst>
              <a:ext uri="{FF2B5EF4-FFF2-40B4-BE49-F238E27FC236}">
                <a16:creationId xmlns:a16="http://schemas.microsoft.com/office/drawing/2014/main" id="{AEF203AB-0E33-471B-B5CE-EB64E9559C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77" y="4042326"/>
            <a:ext cx="5374544" cy="253051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Amazon brand usage guidelines for 3-party display ads | Amazon Ads">
            <a:extLst>
              <a:ext uri="{FF2B5EF4-FFF2-40B4-BE49-F238E27FC236}">
                <a16:creationId xmlns:a16="http://schemas.microsoft.com/office/drawing/2014/main" id="{AEE944D5-742E-2633-E641-A16BC41630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53800" y="6612969"/>
            <a:ext cx="720248" cy="217012"/>
          </a:xfrm>
          <a:prstGeom prst="rect">
            <a:avLst/>
          </a:prstGeom>
          <a:noFill/>
          <a:extLst>
            <a:ext uri="{909E8E84-426E-40DD-AFC4-6F175D3DCCD1}">
              <a14:hiddenFill xmlns:a14="http://schemas.microsoft.com/office/drawing/2010/main">
                <a:solidFill>
                  <a:srgbClr val="FFFFFF"/>
                </a:solidFill>
              </a14:hiddenFill>
            </a:ext>
          </a:extLst>
        </p:spPr>
      </p:pic>
      <p:sp>
        <p:nvSpPr>
          <p:cNvPr id="11" name="Oval 10">
            <a:extLst>
              <a:ext uri="{FF2B5EF4-FFF2-40B4-BE49-F238E27FC236}">
                <a16:creationId xmlns:a16="http://schemas.microsoft.com/office/drawing/2014/main" id="{465C7004-CC71-9528-767A-65FE2C4565D7}"/>
              </a:ext>
            </a:extLst>
          </p:cNvPr>
          <p:cNvSpPr/>
          <p:nvPr/>
        </p:nvSpPr>
        <p:spPr>
          <a:xfrm>
            <a:off x="4099155" y="4295457"/>
            <a:ext cx="1219619" cy="1219619"/>
          </a:xfrm>
          <a:prstGeom prst="ellipse">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TextBox 11">
            <a:extLst>
              <a:ext uri="{FF2B5EF4-FFF2-40B4-BE49-F238E27FC236}">
                <a16:creationId xmlns:a16="http://schemas.microsoft.com/office/drawing/2014/main" id="{4292237B-C496-B7C6-9B77-4E6A056D8FAB}"/>
              </a:ext>
            </a:extLst>
          </p:cNvPr>
          <p:cNvSpPr txBox="1"/>
          <p:nvPr/>
        </p:nvSpPr>
        <p:spPr>
          <a:xfrm>
            <a:off x="481263" y="1180004"/>
            <a:ext cx="6096000" cy="2862322"/>
          </a:xfrm>
          <a:prstGeom prst="rect">
            <a:avLst/>
          </a:prstGeom>
          <a:noFill/>
        </p:spPr>
        <p:txBody>
          <a:bodyPr wrap="square" rtlCol="0">
            <a:spAutoFit/>
          </a:bodyPr>
          <a:lstStyle/>
          <a:p>
            <a:r>
              <a:rPr lang="en-IN" dirty="0"/>
              <a:t>Amazon is one of the world’s largest e-commerce, cloud computing, AI, company. It has over $500 billion in annual revenue as per the latest 10k filing. It serves millions of customers, making it the most dominant player.</a:t>
            </a:r>
          </a:p>
          <a:p>
            <a:endParaRPr lang="en-IN" dirty="0"/>
          </a:p>
          <a:p>
            <a:r>
              <a:rPr lang="en-IN" dirty="0"/>
              <a:t>As mentioned in the 10k filing, Amazon states variety of risks that could impact its performance and operations.</a:t>
            </a:r>
          </a:p>
          <a:p>
            <a:r>
              <a:rPr lang="en-IN" dirty="0"/>
              <a:t>Amongst them, cybersecurity threats and regulatory compliance challenges were  the key risks affecting the business.</a:t>
            </a:r>
          </a:p>
        </p:txBody>
      </p:sp>
      <p:sp>
        <p:nvSpPr>
          <p:cNvPr id="13" name="TextBox 12">
            <a:extLst>
              <a:ext uri="{FF2B5EF4-FFF2-40B4-BE49-F238E27FC236}">
                <a16:creationId xmlns:a16="http://schemas.microsoft.com/office/drawing/2014/main" id="{B2DF0FF1-1D5E-0C14-C7ED-9BFF1C67BAD4}"/>
              </a:ext>
            </a:extLst>
          </p:cNvPr>
          <p:cNvSpPr txBox="1"/>
          <p:nvPr/>
        </p:nvSpPr>
        <p:spPr>
          <a:xfrm>
            <a:off x="6704607" y="745958"/>
            <a:ext cx="5133473" cy="5909310"/>
          </a:xfrm>
          <a:prstGeom prst="rect">
            <a:avLst/>
          </a:prstGeom>
          <a:noFill/>
        </p:spPr>
        <p:txBody>
          <a:bodyPr wrap="square" rtlCol="0">
            <a:spAutoFit/>
          </a:bodyPr>
          <a:lstStyle/>
          <a:p>
            <a:r>
              <a:rPr lang="en-IN" dirty="0"/>
              <a:t>Why these two risks:</a:t>
            </a:r>
          </a:p>
          <a:p>
            <a:r>
              <a:rPr lang="en-IN" dirty="0"/>
              <a:t>1. Cybersecurity threat (Advanced Persistent Threat to AWS): [Annexure A]</a:t>
            </a:r>
          </a:p>
          <a:p>
            <a:r>
              <a:rPr lang="en-IN" dirty="0"/>
              <a:t>Amazon web service is backbone for its global businesses. The 10k report highlights </a:t>
            </a:r>
            <a:r>
              <a:rPr lang="en-IN" b="1" dirty="0"/>
              <a:t>a breach in AWS could lead to data loss, reputation damage, regulatory fines. </a:t>
            </a:r>
          </a:p>
          <a:p>
            <a:r>
              <a:rPr lang="en-IN" dirty="0"/>
              <a:t>Cyber attacks, phishing make cybersecurity a priority for Amazon.</a:t>
            </a:r>
          </a:p>
          <a:p>
            <a:r>
              <a:rPr lang="en-IN" dirty="0"/>
              <a:t>2. Regulatory and trade compliance (China and India operations):</a:t>
            </a:r>
          </a:p>
          <a:p>
            <a:r>
              <a:rPr lang="en-IN" b="1" dirty="0"/>
              <a:t>Operations in China and India are dependent on regulatory frameworks. Localization mandates pose  challenges to the business. </a:t>
            </a:r>
            <a:r>
              <a:rPr lang="en-IN" dirty="0"/>
              <a:t>[Annexure B]</a:t>
            </a:r>
          </a:p>
          <a:p>
            <a:r>
              <a:rPr lang="en-IN" dirty="0"/>
              <a:t>The 10k report mentions- government regulations can lead to licensing issues, penalties. </a:t>
            </a:r>
          </a:p>
          <a:p>
            <a:endParaRPr lang="en-IN" dirty="0"/>
          </a:p>
          <a:p>
            <a:r>
              <a:rPr lang="en-IN" dirty="0"/>
              <a:t>Therefore, this report evaluates these 2 risks, assesses risk exposure, mitigation methods and residual risks under the RCSA framework. </a:t>
            </a:r>
          </a:p>
          <a:p>
            <a:endParaRPr lang="en-IN" dirty="0"/>
          </a:p>
        </p:txBody>
      </p:sp>
    </p:spTree>
    <p:extLst>
      <p:ext uri="{BB962C8B-B14F-4D97-AF65-F5344CB8AC3E}">
        <p14:creationId xmlns:p14="http://schemas.microsoft.com/office/powerpoint/2010/main" val="411306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E4D87-035E-89B3-D73D-EA1FF6131AD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4CAE44-BF0C-0798-6BB9-3ED7027D390D}"/>
              </a:ext>
            </a:extLst>
          </p:cNvPr>
          <p:cNvSpPr txBox="1"/>
          <p:nvPr/>
        </p:nvSpPr>
        <p:spPr>
          <a:xfrm>
            <a:off x="256673" y="256674"/>
            <a:ext cx="5069305" cy="369332"/>
          </a:xfrm>
          <a:prstGeom prst="rect">
            <a:avLst/>
          </a:prstGeom>
          <a:noFill/>
        </p:spPr>
        <p:txBody>
          <a:bodyPr wrap="square" rtlCol="0">
            <a:spAutoFit/>
          </a:bodyPr>
          <a:lstStyle/>
          <a:p>
            <a:r>
              <a:rPr lang="en-IN" b="1" dirty="0"/>
              <a:t>3. </a:t>
            </a:r>
            <a:r>
              <a:rPr lang="en-IN" b="1" u="sng" dirty="0"/>
              <a:t>RCSA PROGRAM DESIGN FOR AMAZON</a:t>
            </a:r>
          </a:p>
        </p:txBody>
      </p:sp>
      <p:sp>
        <p:nvSpPr>
          <p:cNvPr id="3" name="TextBox 2">
            <a:extLst>
              <a:ext uri="{FF2B5EF4-FFF2-40B4-BE49-F238E27FC236}">
                <a16:creationId xmlns:a16="http://schemas.microsoft.com/office/drawing/2014/main" id="{F67DECE3-9499-C2E5-4F18-AA8C985ECAF8}"/>
              </a:ext>
            </a:extLst>
          </p:cNvPr>
          <p:cNvSpPr txBox="1"/>
          <p:nvPr/>
        </p:nvSpPr>
        <p:spPr>
          <a:xfrm>
            <a:off x="256671" y="745958"/>
            <a:ext cx="7058529" cy="5909310"/>
          </a:xfrm>
          <a:prstGeom prst="rect">
            <a:avLst/>
          </a:prstGeom>
          <a:noFill/>
        </p:spPr>
        <p:txBody>
          <a:bodyPr wrap="square" rtlCol="0">
            <a:spAutoFit/>
          </a:bodyPr>
          <a:lstStyle/>
          <a:p>
            <a:r>
              <a:rPr lang="en-IN" b="1" dirty="0"/>
              <a:t>3.1 Approach to RCSA</a:t>
            </a:r>
          </a:p>
          <a:p>
            <a:endParaRPr lang="en-IN" b="1" dirty="0"/>
          </a:p>
          <a:p>
            <a:r>
              <a:rPr lang="en-IN" dirty="0"/>
              <a:t>A hybrid approach is used for Amazon’s RCSA process, incorporating elements of both top-down and bottom-up assessments. This approach is selected because:</a:t>
            </a:r>
          </a:p>
          <a:p>
            <a:endParaRPr lang="en-IN" dirty="0"/>
          </a:p>
          <a:p>
            <a:r>
              <a:rPr lang="en-IN" b="1" dirty="0"/>
              <a:t>Top-down assessment</a:t>
            </a:r>
            <a:r>
              <a:rPr lang="en-IN" dirty="0"/>
              <a:t>: It provides strategic oversight from senior management and ensures risk identification aligns with business objectives. It is essential for large scale risks like </a:t>
            </a:r>
            <a:r>
              <a:rPr lang="en-IN" b="1" dirty="0"/>
              <a:t>regulatory compliance in China and India</a:t>
            </a:r>
            <a:r>
              <a:rPr lang="en-IN" dirty="0"/>
              <a:t>, requiring executive intervention.</a:t>
            </a:r>
          </a:p>
          <a:p>
            <a:endParaRPr lang="en-IN" dirty="0"/>
          </a:p>
          <a:p>
            <a:r>
              <a:rPr lang="en-IN" b="1" dirty="0"/>
              <a:t>Bottom-up assessment</a:t>
            </a:r>
            <a:r>
              <a:rPr lang="en-IN" dirty="0"/>
              <a:t>: It allows operational teams to capture day to day activities and risks with direct interaction with business functions. It is essential for </a:t>
            </a:r>
            <a:r>
              <a:rPr lang="en-IN" b="1" dirty="0"/>
              <a:t>cybersecurity threats</a:t>
            </a:r>
            <a:r>
              <a:rPr lang="en-IN" dirty="0"/>
              <a:t> where IT employees are first to detect anomalies.</a:t>
            </a:r>
          </a:p>
          <a:p>
            <a:endParaRPr lang="en-IN" dirty="0"/>
          </a:p>
          <a:p>
            <a:r>
              <a:rPr lang="en-IN" b="1" dirty="0"/>
              <a:t>Balanced View: C</a:t>
            </a:r>
            <a:r>
              <a:rPr lang="en-IN" dirty="0"/>
              <a:t>ombining both perspectives, amazon ensures enterprise wide risks are effectively identified, assessed and mitigated as Amazon operates in multiple nations with varying risk landscapes. </a:t>
            </a:r>
          </a:p>
          <a:p>
            <a:endParaRPr lang="en-IN" dirty="0"/>
          </a:p>
          <a:p>
            <a:endParaRPr lang="en-IN" dirty="0"/>
          </a:p>
        </p:txBody>
      </p:sp>
      <p:cxnSp>
        <p:nvCxnSpPr>
          <p:cNvPr id="5" name="Straight Connector 4">
            <a:extLst>
              <a:ext uri="{FF2B5EF4-FFF2-40B4-BE49-F238E27FC236}">
                <a16:creationId xmlns:a16="http://schemas.microsoft.com/office/drawing/2014/main" id="{B01CB7EC-2DC7-4175-AB20-A419D966FE58}"/>
              </a:ext>
            </a:extLst>
          </p:cNvPr>
          <p:cNvCxnSpPr>
            <a:cxnSpLocks/>
          </p:cNvCxnSpPr>
          <p:nvPr/>
        </p:nvCxnSpPr>
        <p:spPr>
          <a:xfrm flipH="1">
            <a:off x="11838082" y="668542"/>
            <a:ext cx="1" cy="6189458"/>
          </a:xfrm>
          <a:prstGeom prst="line">
            <a:avLst/>
          </a:prstGeom>
          <a:ln>
            <a:noFill/>
          </a:ln>
        </p:spPr>
        <p:style>
          <a:lnRef idx="1">
            <a:schemeClr val="accent1"/>
          </a:lnRef>
          <a:fillRef idx="0">
            <a:schemeClr val="accent1"/>
          </a:fillRef>
          <a:effectRef idx="0">
            <a:schemeClr val="accent1"/>
          </a:effectRef>
          <a:fontRef idx="minor">
            <a:schemeClr val="tx1"/>
          </a:fontRef>
        </p:style>
      </p:cxnSp>
      <p:graphicFrame>
        <p:nvGraphicFramePr>
          <p:cNvPr id="6" name="Diagram 5">
            <a:extLst>
              <a:ext uri="{FF2B5EF4-FFF2-40B4-BE49-F238E27FC236}">
                <a16:creationId xmlns:a16="http://schemas.microsoft.com/office/drawing/2014/main" id="{C0EF8893-59E9-5506-0AA5-FA8BAFD5B487}"/>
              </a:ext>
            </a:extLst>
          </p:cNvPr>
          <p:cNvGraphicFramePr/>
          <p:nvPr>
            <p:extLst>
              <p:ext uri="{D42A27DB-BD31-4B8C-83A1-F6EECF244321}">
                <p14:modId xmlns:p14="http://schemas.microsoft.com/office/powerpoint/2010/main" val="3070716212"/>
              </p:ext>
            </p:extLst>
          </p:nvPr>
        </p:nvGraphicFramePr>
        <p:xfrm>
          <a:off x="8219679" y="107415"/>
          <a:ext cx="3618402" cy="35544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a:extLst>
              <a:ext uri="{FF2B5EF4-FFF2-40B4-BE49-F238E27FC236}">
                <a16:creationId xmlns:a16="http://schemas.microsoft.com/office/drawing/2014/main" id="{294E27F5-7D84-9304-C1AF-7D1AC7E82E7D}"/>
              </a:ext>
            </a:extLst>
          </p:cNvPr>
          <p:cNvGraphicFramePr/>
          <p:nvPr>
            <p:extLst>
              <p:ext uri="{D42A27DB-BD31-4B8C-83A1-F6EECF244321}">
                <p14:modId xmlns:p14="http://schemas.microsoft.com/office/powerpoint/2010/main" val="1507848390"/>
              </p:ext>
            </p:extLst>
          </p:nvPr>
        </p:nvGraphicFramePr>
        <p:xfrm>
          <a:off x="8219680" y="3100778"/>
          <a:ext cx="3618402" cy="355449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6" name="Slide Number Placeholder 15">
            <a:extLst>
              <a:ext uri="{FF2B5EF4-FFF2-40B4-BE49-F238E27FC236}">
                <a16:creationId xmlns:a16="http://schemas.microsoft.com/office/drawing/2014/main" id="{135B1126-B74E-3733-9EA0-4DCAB90648A1}"/>
              </a:ext>
            </a:extLst>
          </p:cNvPr>
          <p:cNvSpPr>
            <a:spLocks noGrp="1"/>
          </p:cNvSpPr>
          <p:nvPr>
            <p:ph type="sldNum" sz="quarter" idx="12"/>
          </p:nvPr>
        </p:nvSpPr>
        <p:spPr/>
        <p:txBody>
          <a:bodyPr/>
          <a:lstStyle/>
          <a:p>
            <a:fld id="{FD9256D7-CCF9-45DD-9D83-392466C5837E}" type="slidenum">
              <a:rPr lang="en-IN" smtClean="0"/>
              <a:t>4</a:t>
            </a:fld>
            <a:endParaRPr lang="en-IN" dirty="0"/>
          </a:p>
        </p:txBody>
      </p:sp>
      <p:pic>
        <p:nvPicPr>
          <p:cNvPr id="18" name="Picture 2" descr="Amazon brand usage guidelines for 3-party display ads | Amazon Ads">
            <a:extLst>
              <a:ext uri="{FF2B5EF4-FFF2-40B4-BE49-F238E27FC236}">
                <a16:creationId xmlns:a16="http://schemas.microsoft.com/office/drawing/2014/main" id="{BC55CE72-B50F-BAD6-428F-4A699529065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353800" y="6612969"/>
            <a:ext cx="720248" cy="217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9754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17A1DB-8C3D-D3A3-DA7F-70764C543EDE}"/>
              </a:ext>
            </a:extLst>
          </p:cNvPr>
          <p:cNvSpPr txBox="1"/>
          <p:nvPr/>
        </p:nvSpPr>
        <p:spPr>
          <a:xfrm>
            <a:off x="256673" y="256674"/>
            <a:ext cx="5069305" cy="369332"/>
          </a:xfrm>
          <a:prstGeom prst="rect">
            <a:avLst/>
          </a:prstGeom>
          <a:noFill/>
        </p:spPr>
        <p:txBody>
          <a:bodyPr wrap="square" rtlCol="0">
            <a:spAutoFit/>
          </a:bodyPr>
          <a:lstStyle/>
          <a:p>
            <a:r>
              <a:rPr lang="en-IN" b="1" u="sng" dirty="0"/>
              <a:t>3. RCSA PROGRAM DESIGN FOR AMAZON</a:t>
            </a:r>
          </a:p>
        </p:txBody>
      </p:sp>
      <p:sp>
        <p:nvSpPr>
          <p:cNvPr id="6" name="TextBox 5">
            <a:extLst>
              <a:ext uri="{FF2B5EF4-FFF2-40B4-BE49-F238E27FC236}">
                <a16:creationId xmlns:a16="http://schemas.microsoft.com/office/drawing/2014/main" id="{DC9B09FA-4179-532C-BFAE-3B649DF501B7}"/>
              </a:ext>
            </a:extLst>
          </p:cNvPr>
          <p:cNvSpPr txBox="1"/>
          <p:nvPr/>
        </p:nvSpPr>
        <p:spPr>
          <a:xfrm>
            <a:off x="256673" y="651366"/>
            <a:ext cx="11581409" cy="6186309"/>
          </a:xfrm>
          <a:prstGeom prst="rect">
            <a:avLst/>
          </a:prstGeom>
          <a:noFill/>
        </p:spPr>
        <p:txBody>
          <a:bodyPr wrap="square" rtlCol="0">
            <a:spAutoFit/>
          </a:bodyPr>
          <a:lstStyle/>
          <a:p>
            <a:r>
              <a:rPr lang="en-IN" b="1" dirty="0"/>
              <a:t>3.2 Roles &amp; Responsibilities</a:t>
            </a:r>
          </a:p>
          <a:p>
            <a:endParaRPr lang="en-IN" b="1" dirty="0"/>
          </a:p>
          <a:p>
            <a:r>
              <a:rPr lang="en-IN" b="1" dirty="0"/>
              <a:t>First Line of Defense (Business units)</a:t>
            </a:r>
          </a:p>
          <a:p>
            <a:r>
              <a:rPr lang="en-IN" dirty="0"/>
              <a:t>The first LOD consists of business and operational teams responsible for managing risks and implementing controls. Their responsibilities as reflected in the RCSA table include:</a:t>
            </a:r>
          </a:p>
          <a:p>
            <a:r>
              <a:rPr lang="en-IN" u="sng" dirty="0"/>
              <a:t>Identifying and documenting risks</a:t>
            </a:r>
            <a:r>
              <a:rPr lang="en-IN" dirty="0"/>
              <a:t>: </a:t>
            </a:r>
          </a:p>
          <a:p>
            <a:r>
              <a:rPr lang="en-IN" dirty="0"/>
              <a:t>Compliance &amp; operations teams report potential cybersecurity threats and regulatory risks.</a:t>
            </a:r>
          </a:p>
          <a:p>
            <a:r>
              <a:rPr lang="en-IN" u="sng" dirty="0"/>
              <a:t>Control measures: </a:t>
            </a:r>
          </a:p>
          <a:p>
            <a:r>
              <a:rPr lang="en-IN" dirty="0"/>
              <a:t>Implementing firewalls, AI threat detection, cyber security training for mitigating threats.</a:t>
            </a:r>
          </a:p>
          <a:p>
            <a:r>
              <a:rPr lang="en-IN" dirty="0"/>
              <a:t>Ensuring regulatory compliance monitoring in China and India.</a:t>
            </a:r>
          </a:p>
          <a:p>
            <a:r>
              <a:rPr lang="en-IN" u="sng" dirty="0"/>
              <a:t>Monitoring: </a:t>
            </a:r>
          </a:p>
          <a:p>
            <a:r>
              <a:rPr lang="en-IN" dirty="0"/>
              <a:t>Business units track KRIs </a:t>
            </a:r>
          </a:p>
          <a:p>
            <a:endParaRPr lang="en-IN" u="sng" dirty="0"/>
          </a:p>
          <a:p>
            <a:r>
              <a:rPr lang="en-IN" b="1" dirty="0"/>
              <a:t>Second Line of Defense (Risk Management team)</a:t>
            </a:r>
          </a:p>
          <a:p>
            <a:r>
              <a:rPr lang="en-IN" dirty="0"/>
              <a:t>The second LOD provides oversight, risk evaluation and policy enforcement, responsibilities including:</a:t>
            </a:r>
          </a:p>
          <a:p>
            <a:r>
              <a:rPr lang="en-IN" u="sng" dirty="0"/>
              <a:t>Risk assessment:</a:t>
            </a:r>
          </a:p>
          <a:p>
            <a:r>
              <a:rPr lang="en-IN" dirty="0"/>
              <a:t>Review cybersecurity risk reports to determine likelihood of threats.</a:t>
            </a:r>
          </a:p>
          <a:p>
            <a:r>
              <a:rPr lang="en-IN" dirty="0"/>
              <a:t>Evaluate regulatory risk exposure in China and India analysing changes in government policies.</a:t>
            </a:r>
          </a:p>
          <a:p>
            <a:r>
              <a:rPr lang="en-IN" u="sng" dirty="0"/>
              <a:t>Audit</a:t>
            </a:r>
            <a:r>
              <a:rPr lang="en-IN" dirty="0"/>
              <a:t>: Perform audits to ensure compliance with regulations</a:t>
            </a:r>
          </a:p>
          <a:p>
            <a:r>
              <a:rPr lang="en-IN" u="sng" dirty="0"/>
              <a:t>Risk mitigation: </a:t>
            </a:r>
          </a:p>
          <a:p>
            <a:r>
              <a:rPr lang="en-IN" dirty="0"/>
              <a:t>Enhance vendor security audits and zero tolerance security adoption for cyber threats.</a:t>
            </a:r>
          </a:p>
          <a:p>
            <a:r>
              <a:rPr lang="en-IN" dirty="0"/>
              <a:t>Strengthen government relations to manage regulatory challenges.</a:t>
            </a:r>
          </a:p>
        </p:txBody>
      </p:sp>
      <p:sp>
        <p:nvSpPr>
          <p:cNvPr id="7" name="Slide Number Placeholder 6">
            <a:extLst>
              <a:ext uri="{FF2B5EF4-FFF2-40B4-BE49-F238E27FC236}">
                <a16:creationId xmlns:a16="http://schemas.microsoft.com/office/drawing/2014/main" id="{3BB49739-D906-04E5-289B-CF92D87AD102}"/>
              </a:ext>
            </a:extLst>
          </p:cNvPr>
          <p:cNvSpPr>
            <a:spLocks noGrp="1"/>
          </p:cNvSpPr>
          <p:nvPr>
            <p:ph type="sldNum" sz="quarter" idx="12"/>
          </p:nvPr>
        </p:nvSpPr>
        <p:spPr/>
        <p:txBody>
          <a:bodyPr/>
          <a:lstStyle/>
          <a:p>
            <a:fld id="{FD9256D7-CCF9-45DD-9D83-392466C5837E}" type="slidenum">
              <a:rPr lang="en-IN" smtClean="0"/>
              <a:t>5</a:t>
            </a:fld>
            <a:endParaRPr lang="en-IN" dirty="0"/>
          </a:p>
        </p:txBody>
      </p:sp>
      <p:pic>
        <p:nvPicPr>
          <p:cNvPr id="9" name="Picture 2" descr="Amazon brand usage guidelines for 3-party display ads | Amazon Ads">
            <a:extLst>
              <a:ext uri="{FF2B5EF4-FFF2-40B4-BE49-F238E27FC236}">
                <a16:creationId xmlns:a16="http://schemas.microsoft.com/office/drawing/2014/main" id="{66C554B2-499D-69AB-BD90-3739B008D7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53800" y="6612969"/>
            <a:ext cx="720248" cy="217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7641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4B136-FEF6-711A-8F85-BABF5BB05AF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FA9E08-056C-3835-5659-A06D8373ED2E}"/>
              </a:ext>
            </a:extLst>
          </p:cNvPr>
          <p:cNvSpPr txBox="1"/>
          <p:nvPr/>
        </p:nvSpPr>
        <p:spPr>
          <a:xfrm>
            <a:off x="256673" y="256674"/>
            <a:ext cx="5069305" cy="369332"/>
          </a:xfrm>
          <a:prstGeom prst="rect">
            <a:avLst/>
          </a:prstGeom>
          <a:noFill/>
        </p:spPr>
        <p:txBody>
          <a:bodyPr wrap="square" rtlCol="0">
            <a:spAutoFit/>
          </a:bodyPr>
          <a:lstStyle/>
          <a:p>
            <a:r>
              <a:rPr lang="en-IN" b="1" dirty="0"/>
              <a:t>3</a:t>
            </a:r>
            <a:r>
              <a:rPr lang="en-IN" b="1" u="sng" dirty="0"/>
              <a:t>. RCSA PROGRAM DESIGN FOR AMAZON</a:t>
            </a:r>
          </a:p>
        </p:txBody>
      </p:sp>
      <p:sp>
        <p:nvSpPr>
          <p:cNvPr id="6" name="TextBox 5">
            <a:extLst>
              <a:ext uri="{FF2B5EF4-FFF2-40B4-BE49-F238E27FC236}">
                <a16:creationId xmlns:a16="http://schemas.microsoft.com/office/drawing/2014/main" id="{D31964EB-71ED-C3F2-A83B-99DD4A5FC457}"/>
              </a:ext>
            </a:extLst>
          </p:cNvPr>
          <p:cNvSpPr txBox="1"/>
          <p:nvPr/>
        </p:nvSpPr>
        <p:spPr>
          <a:xfrm>
            <a:off x="256673" y="651366"/>
            <a:ext cx="11581409" cy="5632311"/>
          </a:xfrm>
          <a:prstGeom prst="rect">
            <a:avLst/>
          </a:prstGeom>
          <a:noFill/>
        </p:spPr>
        <p:txBody>
          <a:bodyPr wrap="square" rtlCol="0">
            <a:spAutoFit/>
          </a:bodyPr>
          <a:lstStyle/>
          <a:p>
            <a:r>
              <a:rPr lang="en-IN" b="1" dirty="0"/>
              <a:t>3.3 Frequency &amp; Scope</a:t>
            </a:r>
          </a:p>
          <a:p>
            <a:endParaRPr lang="en-IN" b="1" dirty="0"/>
          </a:p>
          <a:p>
            <a:r>
              <a:rPr lang="en-IN" dirty="0"/>
              <a:t>RCSA to be </a:t>
            </a:r>
            <a:r>
              <a:rPr lang="en-IN" b="1" dirty="0"/>
              <a:t>reviewed quarterly </a:t>
            </a:r>
            <a:r>
              <a:rPr lang="en-IN" dirty="0"/>
              <a:t>to track emerging risks, assess controls and alignment with regulatory and cybersecurity regulations.</a:t>
            </a:r>
          </a:p>
          <a:p>
            <a:r>
              <a:rPr lang="en-IN" b="1" dirty="0"/>
              <a:t>Annual assessments </a:t>
            </a:r>
            <a:r>
              <a:rPr lang="en-IN" dirty="0"/>
              <a:t>to evaluate high severity risks with board oversight.</a:t>
            </a:r>
          </a:p>
          <a:p>
            <a:r>
              <a:rPr lang="en-IN" dirty="0"/>
              <a:t>Scope: Amazon’s global operations covered, ensures risks revolving around regulatory frameworks are continuously monitored.</a:t>
            </a:r>
          </a:p>
          <a:p>
            <a:endParaRPr lang="en-IN" b="1" dirty="0"/>
          </a:p>
          <a:p>
            <a:r>
              <a:rPr lang="en-IN" b="1" dirty="0"/>
              <a:t>3.4 Risk rating scale</a:t>
            </a:r>
          </a:p>
          <a:p>
            <a:endParaRPr lang="en-IN" b="1" dirty="0"/>
          </a:p>
          <a:p>
            <a:r>
              <a:rPr lang="en-IN" u="sng" dirty="0"/>
              <a:t>Inherent risk:</a:t>
            </a:r>
            <a:r>
              <a:rPr lang="en-IN" dirty="0"/>
              <a:t> </a:t>
            </a:r>
          </a:p>
          <a:p>
            <a:r>
              <a:rPr lang="en-IN" dirty="0"/>
              <a:t>The risks before applying controls, measuring the likelihood and financial impact [Annexure 1 (a),(b)] of the risk event without any mitigation controls in place.</a:t>
            </a:r>
          </a:p>
          <a:p>
            <a:r>
              <a:rPr lang="en-IN" dirty="0"/>
              <a:t>(Refer to Annexure 2(a) for Inherent risk rating scale)</a:t>
            </a:r>
          </a:p>
          <a:p>
            <a:endParaRPr lang="en-IN" dirty="0"/>
          </a:p>
          <a:p>
            <a:r>
              <a:rPr lang="en-IN" u="sng" dirty="0"/>
              <a:t>Residual risk: </a:t>
            </a:r>
          </a:p>
          <a:p>
            <a:r>
              <a:rPr lang="en-IN" dirty="0"/>
              <a:t>Assesses risk after applying control measures, reflects remaining risk exposure.</a:t>
            </a:r>
          </a:p>
          <a:p>
            <a:r>
              <a:rPr lang="en-IN" dirty="0"/>
              <a:t>(Refer to Annexure 2(b) for residual risk rating scale)</a:t>
            </a:r>
          </a:p>
          <a:p>
            <a:r>
              <a:rPr lang="en-IN" dirty="0"/>
              <a:t>(Refer to Annexure 2(c) for inherent risk and residual risk rating heat map)</a:t>
            </a:r>
          </a:p>
          <a:p>
            <a:endParaRPr lang="en-IN" u="sng" dirty="0"/>
          </a:p>
        </p:txBody>
      </p:sp>
      <p:sp>
        <p:nvSpPr>
          <p:cNvPr id="7" name="Slide Number Placeholder 6">
            <a:extLst>
              <a:ext uri="{FF2B5EF4-FFF2-40B4-BE49-F238E27FC236}">
                <a16:creationId xmlns:a16="http://schemas.microsoft.com/office/drawing/2014/main" id="{3869992F-F406-35E2-D7D9-7820F45D0565}"/>
              </a:ext>
            </a:extLst>
          </p:cNvPr>
          <p:cNvSpPr>
            <a:spLocks noGrp="1"/>
          </p:cNvSpPr>
          <p:nvPr>
            <p:ph type="sldNum" sz="quarter" idx="12"/>
          </p:nvPr>
        </p:nvSpPr>
        <p:spPr/>
        <p:txBody>
          <a:bodyPr/>
          <a:lstStyle/>
          <a:p>
            <a:fld id="{FD9256D7-CCF9-45DD-9D83-392466C5837E}" type="slidenum">
              <a:rPr lang="en-IN" smtClean="0"/>
              <a:t>6</a:t>
            </a:fld>
            <a:endParaRPr lang="en-IN" dirty="0"/>
          </a:p>
        </p:txBody>
      </p:sp>
      <p:pic>
        <p:nvPicPr>
          <p:cNvPr id="4" name="Picture 2" descr="Amazon brand usage guidelines for 3-party display ads | Amazon Ads">
            <a:extLst>
              <a:ext uri="{FF2B5EF4-FFF2-40B4-BE49-F238E27FC236}">
                <a16:creationId xmlns:a16="http://schemas.microsoft.com/office/drawing/2014/main" id="{C9F54C67-7EA2-0F5C-3B0A-00155ED713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53800" y="6612969"/>
            <a:ext cx="720248" cy="217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2663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88373-374F-F05B-280A-92DE55B550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9647AF2-1F6D-2990-C2BE-C5F24118E3FB}"/>
              </a:ext>
            </a:extLst>
          </p:cNvPr>
          <p:cNvSpPr txBox="1"/>
          <p:nvPr/>
        </p:nvSpPr>
        <p:spPr>
          <a:xfrm>
            <a:off x="256673" y="256674"/>
            <a:ext cx="5069305" cy="369332"/>
          </a:xfrm>
          <a:prstGeom prst="rect">
            <a:avLst/>
          </a:prstGeom>
          <a:noFill/>
        </p:spPr>
        <p:txBody>
          <a:bodyPr wrap="square" rtlCol="0">
            <a:spAutoFit/>
          </a:bodyPr>
          <a:lstStyle/>
          <a:p>
            <a:r>
              <a:rPr lang="en-IN" b="1" dirty="0"/>
              <a:t>4.1 </a:t>
            </a:r>
            <a:r>
              <a:rPr lang="en-IN" b="1" u="sng" dirty="0"/>
              <a:t>RISK 1- CYBERSECURITY THREAT</a:t>
            </a:r>
          </a:p>
        </p:txBody>
      </p:sp>
      <p:sp>
        <p:nvSpPr>
          <p:cNvPr id="5" name="Slide Number Placeholder 4">
            <a:extLst>
              <a:ext uri="{FF2B5EF4-FFF2-40B4-BE49-F238E27FC236}">
                <a16:creationId xmlns:a16="http://schemas.microsoft.com/office/drawing/2014/main" id="{553B6611-F6CA-53AE-66C6-EC67BECD7F85}"/>
              </a:ext>
            </a:extLst>
          </p:cNvPr>
          <p:cNvSpPr>
            <a:spLocks noGrp="1"/>
          </p:cNvSpPr>
          <p:nvPr>
            <p:ph type="sldNum" sz="quarter" idx="12"/>
          </p:nvPr>
        </p:nvSpPr>
        <p:spPr/>
        <p:txBody>
          <a:bodyPr/>
          <a:lstStyle/>
          <a:p>
            <a:fld id="{FD9256D7-CCF9-45DD-9D83-392466C5837E}" type="slidenum">
              <a:rPr lang="en-IN" smtClean="0"/>
              <a:t>7</a:t>
            </a:fld>
            <a:endParaRPr lang="en-IN" dirty="0"/>
          </a:p>
        </p:txBody>
      </p:sp>
      <p:graphicFrame>
        <p:nvGraphicFramePr>
          <p:cNvPr id="8" name="Table 7">
            <a:extLst>
              <a:ext uri="{FF2B5EF4-FFF2-40B4-BE49-F238E27FC236}">
                <a16:creationId xmlns:a16="http://schemas.microsoft.com/office/drawing/2014/main" id="{6A2805D6-C39F-3FC4-28EF-E64832B40EFF}"/>
              </a:ext>
            </a:extLst>
          </p:cNvPr>
          <p:cNvGraphicFramePr>
            <a:graphicFrameLocks noGrp="1"/>
          </p:cNvGraphicFramePr>
          <p:nvPr>
            <p:extLst>
              <p:ext uri="{D42A27DB-BD31-4B8C-83A1-F6EECF244321}">
                <p14:modId xmlns:p14="http://schemas.microsoft.com/office/powerpoint/2010/main" val="3508929233"/>
              </p:ext>
            </p:extLst>
          </p:nvPr>
        </p:nvGraphicFramePr>
        <p:xfrm>
          <a:off x="353917" y="770203"/>
          <a:ext cx="11484162" cy="4846320"/>
        </p:xfrm>
        <a:graphic>
          <a:graphicData uri="http://schemas.openxmlformats.org/drawingml/2006/table">
            <a:tbl>
              <a:tblPr firstRow="1" bandRow="1">
                <a:tableStyleId>{69012ECD-51FC-41F1-AA8D-1B2483CD663E}</a:tableStyleId>
              </a:tblPr>
              <a:tblGrid>
                <a:gridCol w="1914027">
                  <a:extLst>
                    <a:ext uri="{9D8B030D-6E8A-4147-A177-3AD203B41FA5}">
                      <a16:colId xmlns:a16="http://schemas.microsoft.com/office/drawing/2014/main" val="2917565307"/>
                    </a:ext>
                  </a:extLst>
                </a:gridCol>
                <a:gridCol w="2400309">
                  <a:extLst>
                    <a:ext uri="{9D8B030D-6E8A-4147-A177-3AD203B41FA5}">
                      <a16:colId xmlns:a16="http://schemas.microsoft.com/office/drawing/2014/main" val="893437514"/>
                    </a:ext>
                  </a:extLst>
                </a:gridCol>
                <a:gridCol w="1427745">
                  <a:extLst>
                    <a:ext uri="{9D8B030D-6E8A-4147-A177-3AD203B41FA5}">
                      <a16:colId xmlns:a16="http://schemas.microsoft.com/office/drawing/2014/main" val="3664544658"/>
                    </a:ext>
                  </a:extLst>
                </a:gridCol>
                <a:gridCol w="1604213">
                  <a:extLst>
                    <a:ext uri="{9D8B030D-6E8A-4147-A177-3AD203B41FA5}">
                      <a16:colId xmlns:a16="http://schemas.microsoft.com/office/drawing/2014/main" val="1376100936"/>
                    </a:ext>
                  </a:extLst>
                </a:gridCol>
                <a:gridCol w="1796715">
                  <a:extLst>
                    <a:ext uri="{9D8B030D-6E8A-4147-A177-3AD203B41FA5}">
                      <a16:colId xmlns:a16="http://schemas.microsoft.com/office/drawing/2014/main" val="27085982"/>
                    </a:ext>
                  </a:extLst>
                </a:gridCol>
                <a:gridCol w="2341153">
                  <a:extLst>
                    <a:ext uri="{9D8B030D-6E8A-4147-A177-3AD203B41FA5}">
                      <a16:colId xmlns:a16="http://schemas.microsoft.com/office/drawing/2014/main" val="4018024278"/>
                    </a:ext>
                  </a:extLst>
                </a:gridCol>
              </a:tblGrid>
              <a:tr h="370840">
                <a:tc>
                  <a:txBody>
                    <a:bodyPr/>
                    <a:lstStyle/>
                    <a:p>
                      <a:r>
                        <a:rPr lang="en-IN" dirty="0"/>
                        <a:t>Risk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Risk local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Inherent risk rating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Control effectiveness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Residual risk rating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Action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1671966"/>
                  </a:ext>
                </a:extLst>
              </a:tr>
              <a:tr h="370840">
                <a:tc>
                  <a:txBody>
                    <a:bodyPr/>
                    <a:lstStyle/>
                    <a:p>
                      <a:r>
                        <a:rPr lang="en-IN" dirty="0"/>
                        <a:t>ATP Cybersecurity attack</a:t>
                      </a:r>
                    </a:p>
                    <a:p>
                      <a:endParaRPr lang="en-IN" dirty="0"/>
                    </a:p>
                    <a:p>
                      <a:r>
                        <a:rPr lang="en-IN" dirty="0"/>
                        <a:t>(Business disruption, system failure)</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Cyber criminals exploit the cloud infrastructure, vendor systems and gain unauthorized access using zero day vulnerabilities and weakness in security system. The breach results in data manipulation and AWS service downtime, impacting major clients and regulatory</a:t>
                      </a:r>
                    </a:p>
                    <a:p>
                      <a:r>
                        <a:rPr lang="en-IN" dirty="0"/>
                        <a:t>compliance.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Critical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Moderate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High</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IN" dirty="0"/>
                        <a:t>Implement zero trust security model</a:t>
                      </a:r>
                    </a:p>
                    <a:p>
                      <a:pPr marL="285750" indent="-285750">
                        <a:buFont typeface="Arial" panose="020B0604020202020204" pitchFamily="34" charset="0"/>
                        <a:buChar char="•"/>
                      </a:pPr>
                      <a:r>
                        <a:rPr lang="en-IN" dirty="0"/>
                        <a:t>Enhancing vendor security audits and enforcing stricter compliance </a:t>
                      </a:r>
                    </a:p>
                    <a:p>
                      <a:pPr marL="285750" indent="-285750">
                        <a:buFont typeface="Arial" panose="020B0604020202020204" pitchFamily="34" charset="0"/>
                        <a:buChar char="•"/>
                      </a:pPr>
                      <a:r>
                        <a:rPr lang="en-IN" dirty="0"/>
                        <a:t>Develop AI enabled anomaly detection to identify threats</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8746443"/>
                  </a:ext>
                </a:extLst>
              </a:tr>
            </a:tbl>
          </a:graphicData>
        </a:graphic>
      </p:graphicFrame>
      <p:pic>
        <p:nvPicPr>
          <p:cNvPr id="9" name="Picture 2" descr="Amazon brand usage guidelines for 3-party display ads | Amazon Ads">
            <a:extLst>
              <a:ext uri="{FF2B5EF4-FFF2-40B4-BE49-F238E27FC236}">
                <a16:creationId xmlns:a16="http://schemas.microsoft.com/office/drawing/2014/main" id="{94C56964-32BA-F02C-EAF5-085664DCA1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53800" y="6612969"/>
            <a:ext cx="720248" cy="21701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FECC2B9-0330-2CFD-908E-048F87131F21}"/>
              </a:ext>
            </a:extLst>
          </p:cNvPr>
          <p:cNvSpPr txBox="1"/>
          <p:nvPr/>
        </p:nvSpPr>
        <p:spPr>
          <a:xfrm>
            <a:off x="256673" y="5718465"/>
            <a:ext cx="9031706" cy="369332"/>
          </a:xfrm>
          <a:prstGeom prst="rect">
            <a:avLst/>
          </a:prstGeom>
          <a:noFill/>
        </p:spPr>
        <p:txBody>
          <a:bodyPr wrap="square">
            <a:spAutoFit/>
          </a:bodyPr>
          <a:lstStyle/>
          <a:p>
            <a:r>
              <a:rPr lang="en-IN" dirty="0"/>
              <a:t>(Refer to Annexure 3 for inherent risk, control effectiveness, residual risk rating justification)</a:t>
            </a:r>
          </a:p>
        </p:txBody>
      </p:sp>
    </p:spTree>
    <p:extLst>
      <p:ext uri="{BB962C8B-B14F-4D97-AF65-F5344CB8AC3E}">
        <p14:creationId xmlns:p14="http://schemas.microsoft.com/office/powerpoint/2010/main" val="3255328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86F4B-9B75-59F6-2741-D68D6A023CB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2162339-4ECB-7048-4CDF-EEF683D8B001}"/>
              </a:ext>
            </a:extLst>
          </p:cNvPr>
          <p:cNvSpPr txBox="1"/>
          <p:nvPr/>
        </p:nvSpPr>
        <p:spPr>
          <a:xfrm>
            <a:off x="256673" y="256674"/>
            <a:ext cx="6946231" cy="369332"/>
          </a:xfrm>
          <a:prstGeom prst="rect">
            <a:avLst/>
          </a:prstGeom>
          <a:noFill/>
        </p:spPr>
        <p:txBody>
          <a:bodyPr wrap="square" rtlCol="0">
            <a:spAutoFit/>
          </a:bodyPr>
          <a:lstStyle/>
          <a:p>
            <a:r>
              <a:rPr lang="en-IN" b="1" dirty="0"/>
              <a:t>4.2 </a:t>
            </a:r>
            <a:r>
              <a:rPr lang="en-IN" b="1" u="sng" dirty="0"/>
              <a:t>RISK 2- LEGAL &amp; COMPLIANCE RISK IN CHINA AND INDIA </a:t>
            </a:r>
          </a:p>
        </p:txBody>
      </p:sp>
      <p:sp>
        <p:nvSpPr>
          <p:cNvPr id="5" name="Slide Number Placeholder 4">
            <a:extLst>
              <a:ext uri="{FF2B5EF4-FFF2-40B4-BE49-F238E27FC236}">
                <a16:creationId xmlns:a16="http://schemas.microsoft.com/office/drawing/2014/main" id="{0DDA2A31-FE59-17D4-0146-2169E922EB36}"/>
              </a:ext>
            </a:extLst>
          </p:cNvPr>
          <p:cNvSpPr>
            <a:spLocks noGrp="1"/>
          </p:cNvSpPr>
          <p:nvPr>
            <p:ph type="sldNum" sz="quarter" idx="12"/>
          </p:nvPr>
        </p:nvSpPr>
        <p:spPr/>
        <p:txBody>
          <a:bodyPr/>
          <a:lstStyle/>
          <a:p>
            <a:fld id="{FD9256D7-CCF9-45DD-9D83-392466C5837E}" type="slidenum">
              <a:rPr lang="en-IN" smtClean="0"/>
              <a:t>8</a:t>
            </a:fld>
            <a:endParaRPr lang="en-IN" dirty="0"/>
          </a:p>
        </p:txBody>
      </p:sp>
      <p:graphicFrame>
        <p:nvGraphicFramePr>
          <p:cNvPr id="8" name="Table 7">
            <a:extLst>
              <a:ext uri="{FF2B5EF4-FFF2-40B4-BE49-F238E27FC236}">
                <a16:creationId xmlns:a16="http://schemas.microsoft.com/office/drawing/2014/main" id="{85230819-0DE7-0859-B39D-D4B21A391FC4}"/>
              </a:ext>
            </a:extLst>
          </p:cNvPr>
          <p:cNvGraphicFramePr>
            <a:graphicFrameLocks noGrp="1"/>
          </p:cNvGraphicFramePr>
          <p:nvPr>
            <p:extLst>
              <p:ext uri="{D42A27DB-BD31-4B8C-83A1-F6EECF244321}">
                <p14:modId xmlns:p14="http://schemas.microsoft.com/office/powerpoint/2010/main" val="3980534269"/>
              </p:ext>
            </p:extLst>
          </p:nvPr>
        </p:nvGraphicFramePr>
        <p:xfrm>
          <a:off x="353917" y="770203"/>
          <a:ext cx="11484162" cy="4023360"/>
        </p:xfrm>
        <a:graphic>
          <a:graphicData uri="http://schemas.openxmlformats.org/drawingml/2006/table">
            <a:tbl>
              <a:tblPr firstRow="1" bandRow="1">
                <a:tableStyleId>{69012ECD-51FC-41F1-AA8D-1B2483CD663E}</a:tableStyleId>
              </a:tblPr>
              <a:tblGrid>
                <a:gridCol w="1914027">
                  <a:extLst>
                    <a:ext uri="{9D8B030D-6E8A-4147-A177-3AD203B41FA5}">
                      <a16:colId xmlns:a16="http://schemas.microsoft.com/office/drawing/2014/main" val="2917565307"/>
                    </a:ext>
                  </a:extLst>
                </a:gridCol>
                <a:gridCol w="2400309">
                  <a:extLst>
                    <a:ext uri="{9D8B030D-6E8A-4147-A177-3AD203B41FA5}">
                      <a16:colId xmlns:a16="http://schemas.microsoft.com/office/drawing/2014/main" val="893437514"/>
                    </a:ext>
                  </a:extLst>
                </a:gridCol>
                <a:gridCol w="1427745">
                  <a:extLst>
                    <a:ext uri="{9D8B030D-6E8A-4147-A177-3AD203B41FA5}">
                      <a16:colId xmlns:a16="http://schemas.microsoft.com/office/drawing/2014/main" val="3664544658"/>
                    </a:ext>
                  </a:extLst>
                </a:gridCol>
                <a:gridCol w="1604213">
                  <a:extLst>
                    <a:ext uri="{9D8B030D-6E8A-4147-A177-3AD203B41FA5}">
                      <a16:colId xmlns:a16="http://schemas.microsoft.com/office/drawing/2014/main" val="1376100936"/>
                    </a:ext>
                  </a:extLst>
                </a:gridCol>
                <a:gridCol w="1796715">
                  <a:extLst>
                    <a:ext uri="{9D8B030D-6E8A-4147-A177-3AD203B41FA5}">
                      <a16:colId xmlns:a16="http://schemas.microsoft.com/office/drawing/2014/main" val="27085982"/>
                    </a:ext>
                  </a:extLst>
                </a:gridCol>
                <a:gridCol w="2341153">
                  <a:extLst>
                    <a:ext uri="{9D8B030D-6E8A-4147-A177-3AD203B41FA5}">
                      <a16:colId xmlns:a16="http://schemas.microsoft.com/office/drawing/2014/main" val="4018024278"/>
                    </a:ext>
                  </a:extLst>
                </a:gridCol>
              </a:tblGrid>
              <a:tr h="370840">
                <a:tc>
                  <a:txBody>
                    <a:bodyPr/>
                    <a:lstStyle/>
                    <a:p>
                      <a:r>
                        <a:rPr lang="en-IN" dirty="0"/>
                        <a:t>Risk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Risk local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Inherent risk rating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Control effectiveness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Residual risk rating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Action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1671966"/>
                  </a:ext>
                </a:extLst>
              </a:tr>
              <a:tr h="370840">
                <a:tc>
                  <a:txBody>
                    <a:bodyPr/>
                    <a:lstStyle/>
                    <a:p>
                      <a:r>
                        <a:rPr lang="en-IN" dirty="0"/>
                        <a:t>Regulatory compliance in China and India</a:t>
                      </a:r>
                    </a:p>
                    <a:p>
                      <a:endParaRPr lang="en-IN" dirty="0"/>
                    </a:p>
                    <a:p>
                      <a:r>
                        <a:rPr lang="en-IN" dirty="0"/>
                        <a:t>(Clients, products and business practices)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The PRC and India regulate Amazon’s business through foreign investment, internet, licensing and other regulations. Operating under complex third-part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High</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Moderate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Medium</a:t>
                      </a:r>
                    </a:p>
                    <a:p>
                      <a:endParaRPr lang="en-IN" dirty="0"/>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IN" dirty="0"/>
                        <a:t>Strengthen government relations </a:t>
                      </a:r>
                    </a:p>
                    <a:p>
                      <a:pPr marL="285750" indent="-285750">
                        <a:buFont typeface="Arial" panose="020B0604020202020204" pitchFamily="34" charset="0"/>
                        <a:buChar char="•"/>
                      </a:pPr>
                      <a:r>
                        <a:rPr lang="en-IN" dirty="0"/>
                        <a:t>Diversify supplier base outside China to reduce dependency</a:t>
                      </a:r>
                    </a:p>
                    <a:p>
                      <a:pPr marL="285750" indent="-285750">
                        <a:buFont typeface="Arial" panose="020B0604020202020204" pitchFamily="34" charset="0"/>
                        <a:buChar char="•"/>
                      </a:pPr>
                      <a:r>
                        <a:rPr lang="en-IN" dirty="0"/>
                        <a:t>Improve compliance risk forecasting through AI analytics.</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8746443"/>
                  </a:ext>
                </a:extLst>
              </a:tr>
            </a:tbl>
          </a:graphicData>
        </a:graphic>
      </p:graphicFrame>
      <p:pic>
        <p:nvPicPr>
          <p:cNvPr id="3" name="Picture 2" descr="Amazon brand usage guidelines for 3-party display ads | Amazon Ads">
            <a:extLst>
              <a:ext uri="{FF2B5EF4-FFF2-40B4-BE49-F238E27FC236}">
                <a16:creationId xmlns:a16="http://schemas.microsoft.com/office/drawing/2014/main" id="{7BE75DE0-A3AE-69F9-95B0-C73E67C926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53800" y="6612969"/>
            <a:ext cx="720248" cy="21701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3577A3D-E3A4-0B5C-DB60-D57D4FD11A18}"/>
              </a:ext>
            </a:extLst>
          </p:cNvPr>
          <p:cNvSpPr txBox="1"/>
          <p:nvPr/>
        </p:nvSpPr>
        <p:spPr>
          <a:xfrm>
            <a:off x="256673" y="4897473"/>
            <a:ext cx="9031706" cy="369332"/>
          </a:xfrm>
          <a:prstGeom prst="rect">
            <a:avLst/>
          </a:prstGeom>
          <a:noFill/>
        </p:spPr>
        <p:txBody>
          <a:bodyPr wrap="square">
            <a:spAutoFit/>
          </a:bodyPr>
          <a:lstStyle/>
          <a:p>
            <a:r>
              <a:rPr lang="en-IN" dirty="0"/>
              <a:t>(Refer to Annexure 3 for inherent risk, control effectiveness, residual risk rating justification)</a:t>
            </a:r>
          </a:p>
        </p:txBody>
      </p:sp>
    </p:spTree>
    <p:extLst>
      <p:ext uri="{BB962C8B-B14F-4D97-AF65-F5344CB8AC3E}">
        <p14:creationId xmlns:p14="http://schemas.microsoft.com/office/powerpoint/2010/main" val="3596417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16F85-0FA3-1FF7-CCCC-3E662B7439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97B0DAE-AA21-391D-BE73-3DE2BFD990DF}"/>
              </a:ext>
            </a:extLst>
          </p:cNvPr>
          <p:cNvSpPr txBox="1"/>
          <p:nvPr/>
        </p:nvSpPr>
        <p:spPr>
          <a:xfrm>
            <a:off x="256673" y="256674"/>
            <a:ext cx="5069305" cy="369332"/>
          </a:xfrm>
          <a:prstGeom prst="rect">
            <a:avLst/>
          </a:prstGeom>
          <a:noFill/>
        </p:spPr>
        <p:txBody>
          <a:bodyPr wrap="square" rtlCol="0">
            <a:spAutoFit/>
          </a:bodyPr>
          <a:lstStyle/>
          <a:p>
            <a:r>
              <a:rPr lang="en-IN" b="1" dirty="0"/>
              <a:t>Conclusion and recommendation</a:t>
            </a:r>
          </a:p>
        </p:txBody>
      </p:sp>
      <p:sp>
        <p:nvSpPr>
          <p:cNvPr id="3" name="TextBox 2">
            <a:extLst>
              <a:ext uri="{FF2B5EF4-FFF2-40B4-BE49-F238E27FC236}">
                <a16:creationId xmlns:a16="http://schemas.microsoft.com/office/drawing/2014/main" id="{3BB18DC0-D474-6DFF-5226-254CC897DA7F}"/>
              </a:ext>
            </a:extLst>
          </p:cNvPr>
          <p:cNvSpPr txBox="1"/>
          <p:nvPr/>
        </p:nvSpPr>
        <p:spPr>
          <a:xfrm>
            <a:off x="353916" y="762000"/>
            <a:ext cx="11484161" cy="5632311"/>
          </a:xfrm>
          <a:prstGeom prst="rect">
            <a:avLst/>
          </a:prstGeom>
          <a:noFill/>
        </p:spPr>
        <p:txBody>
          <a:bodyPr wrap="square" rtlCol="0">
            <a:spAutoFit/>
          </a:bodyPr>
          <a:lstStyle/>
          <a:p>
            <a:r>
              <a:rPr lang="en-IN" b="1" dirty="0"/>
              <a:t>Conclusion:</a:t>
            </a:r>
          </a:p>
          <a:p>
            <a:r>
              <a:rPr lang="en-IN" dirty="0"/>
              <a:t>The RCSA program assesses 2 important operational risks Cybersecurity threat (Business disruption, system failure) and regulatory and third party trade compliance risks in China and India (Clients, products and business practices).</a:t>
            </a:r>
          </a:p>
          <a:p>
            <a:r>
              <a:rPr lang="en-IN" dirty="0"/>
              <a:t>Both risks have potential to impact amazon’s operations and operational stability.</a:t>
            </a:r>
          </a:p>
          <a:p>
            <a:r>
              <a:rPr lang="en-IN" dirty="0"/>
              <a:t>The cyber threats require amazon to maintain proactive security frameworks. Despite existing multi-layered controls, residual risks remain high.</a:t>
            </a:r>
          </a:p>
          <a:p>
            <a:r>
              <a:rPr lang="en-IN" dirty="0"/>
              <a:t>Amazon’s operations in China and India face uncertainties, foreign ownership restriction and evolving trade policies. Amazon has implemented government strategies, alternative supply chain, yet regulatory environment remains unpredictable. </a:t>
            </a:r>
          </a:p>
          <a:p>
            <a:r>
              <a:rPr lang="en-IN" dirty="0"/>
              <a:t>Given the high financial impact, continuous monitoring and risk mitigation is important.</a:t>
            </a:r>
          </a:p>
          <a:p>
            <a:endParaRPr lang="en-IN" dirty="0"/>
          </a:p>
          <a:p>
            <a:r>
              <a:rPr lang="en-IN" b="1" dirty="0"/>
              <a:t>Recommendations:</a:t>
            </a:r>
          </a:p>
          <a:p>
            <a:r>
              <a:rPr lang="en-IN" dirty="0"/>
              <a:t>To strengthen amazon’s risk management and reduce residual risk:</a:t>
            </a:r>
          </a:p>
          <a:p>
            <a:r>
              <a:rPr lang="en-IN" b="1" dirty="0"/>
              <a:t>ATP on AWS:</a:t>
            </a:r>
            <a:endParaRPr lang="en-IN" dirty="0"/>
          </a:p>
          <a:p>
            <a:r>
              <a:rPr lang="en-IN" dirty="0"/>
              <a:t>Enhance AI automation to detect anomalies and mitigate cyber threat before they escalate</a:t>
            </a:r>
          </a:p>
          <a:p>
            <a:r>
              <a:rPr lang="en-IN" dirty="0"/>
              <a:t>Strengthen third party vendor and cloud partner audits- bi annual audits for all vendors who handle confidential data.</a:t>
            </a:r>
          </a:p>
          <a:p>
            <a:endParaRPr lang="en-IN" dirty="0"/>
          </a:p>
          <a:p>
            <a:r>
              <a:rPr lang="en-IN" b="1" dirty="0"/>
              <a:t>Regulatory and trade compliance:</a:t>
            </a:r>
          </a:p>
          <a:p>
            <a:r>
              <a:rPr lang="en-IN" dirty="0"/>
              <a:t>Expand government relations, collaborate with government agencies to advocate favourable trade policies</a:t>
            </a:r>
          </a:p>
          <a:p>
            <a:r>
              <a:rPr lang="en-IN" dirty="0"/>
              <a:t>Establish legal team to handle sudden regulatory enforcement actions, fines.</a:t>
            </a:r>
          </a:p>
        </p:txBody>
      </p:sp>
      <p:sp>
        <p:nvSpPr>
          <p:cNvPr id="5" name="Slide Number Placeholder 4">
            <a:extLst>
              <a:ext uri="{FF2B5EF4-FFF2-40B4-BE49-F238E27FC236}">
                <a16:creationId xmlns:a16="http://schemas.microsoft.com/office/drawing/2014/main" id="{16F9B299-6F97-9726-B91D-CAF6496EB948}"/>
              </a:ext>
            </a:extLst>
          </p:cNvPr>
          <p:cNvSpPr>
            <a:spLocks noGrp="1"/>
          </p:cNvSpPr>
          <p:nvPr>
            <p:ph type="sldNum" sz="quarter" idx="12"/>
          </p:nvPr>
        </p:nvSpPr>
        <p:spPr/>
        <p:txBody>
          <a:bodyPr/>
          <a:lstStyle/>
          <a:p>
            <a:fld id="{FD9256D7-CCF9-45DD-9D83-392466C5837E}" type="slidenum">
              <a:rPr lang="en-IN" smtClean="0"/>
              <a:t>9</a:t>
            </a:fld>
            <a:endParaRPr lang="en-IN" dirty="0"/>
          </a:p>
        </p:txBody>
      </p:sp>
      <p:pic>
        <p:nvPicPr>
          <p:cNvPr id="8" name="Picture 7" descr="Amazon brand usage guidelines for 3-party display ads | Amazon Ads">
            <a:extLst>
              <a:ext uri="{FF2B5EF4-FFF2-40B4-BE49-F238E27FC236}">
                <a16:creationId xmlns:a16="http://schemas.microsoft.com/office/drawing/2014/main" id="{607ABF2B-68F3-4BA8-DBD4-5CB487AED3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53800" y="6612969"/>
            <a:ext cx="720248" cy="217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7655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79148F-FF76-39EE-F632-F410AA5DC896}"/>
              </a:ext>
            </a:extLst>
          </p:cNvPr>
          <p:cNvSpPr txBox="1"/>
          <p:nvPr/>
        </p:nvSpPr>
        <p:spPr>
          <a:xfrm>
            <a:off x="256673" y="256674"/>
            <a:ext cx="5069305" cy="369332"/>
          </a:xfrm>
          <a:prstGeom prst="rect">
            <a:avLst/>
          </a:prstGeom>
          <a:noFill/>
        </p:spPr>
        <p:txBody>
          <a:bodyPr wrap="square" rtlCol="0">
            <a:spAutoFit/>
          </a:bodyPr>
          <a:lstStyle/>
          <a:p>
            <a:r>
              <a:rPr lang="en-IN" b="1" dirty="0"/>
              <a:t>REFERENCES</a:t>
            </a:r>
          </a:p>
        </p:txBody>
      </p:sp>
      <p:sp>
        <p:nvSpPr>
          <p:cNvPr id="3" name="TextBox 2">
            <a:extLst>
              <a:ext uri="{FF2B5EF4-FFF2-40B4-BE49-F238E27FC236}">
                <a16:creationId xmlns:a16="http://schemas.microsoft.com/office/drawing/2014/main" id="{4FA2736D-6BA2-26C8-063E-DB88D910AA64}"/>
              </a:ext>
            </a:extLst>
          </p:cNvPr>
          <p:cNvSpPr txBox="1"/>
          <p:nvPr/>
        </p:nvSpPr>
        <p:spPr>
          <a:xfrm>
            <a:off x="256671" y="745958"/>
            <a:ext cx="11213434" cy="2862322"/>
          </a:xfrm>
          <a:prstGeom prst="rect">
            <a:avLst/>
          </a:prstGeom>
          <a:noFill/>
        </p:spPr>
        <p:txBody>
          <a:bodyPr wrap="square" rtlCol="0">
            <a:spAutoFit/>
          </a:bodyPr>
          <a:lstStyle/>
          <a:p>
            <a:pPr marL="285750" indent="-285750">
              <a:buFont typeface="Arial" panose="020B0604020202020204" pitchFamily="34" charset="0"/>
              <a:buChar char="•"/>
            </a:pPr>
            <a:r>
              <a:rPr lang="en-IN" dirty="0"/>
              <a:t>Amazon 10-k report</a:t>
            </a:r>
          </a:p>
          <a:p>
            <a:pPr marL="285750" indent="-285750">
              <a:buFont typeface="Arial" panose="020B0604020202020204" pitchFamily="34" charset="0"/>
              <a:buChar char="•"/>
            </a:pPr>
            <a:r>
              <a:rPr lang="en-IN" dirty="0">
                <a:hlinkClick r:id="rId2"/>
              </a:rPr>
              <a:t>https://riskcue.id/uploads/ebook/20211013112039-2021-10-13ebook112026.pdf</a:t>
            </a:r>
            <a:endParaRPr lang="en-IN" dirty="0"/>
          </a:p>
          <a:p>
            <a:pPr marL="285750" indent="-285750">
              <a:buFont typeface="Arial" panose="020B0604020202020204" pitchFamily="34" charset="0"/>
              <a:buChar char="•"/>
            </a:pPr>
            <a:r>
              <a:rPr lang="en-IN" dirty="0">
                <a:hlinkClick r:id="rId3"/>
              </a:rPr>
              <a:t>https://www.linkedin.com/pulse/risk-control-self-assessment-rcsa-strategic-imperative-zvy2f/</a:t>
            </a:r>
            <a:endParaRPr lang="en-IN" dirty="0"/>
          </a:p>
          <a:p>
            <a:pPr marL="285750" indent="-285750">
              <a:buFont typeface="Arial" panose="020B0604020202020204" pitchFamily="34" charset="0"/>
              <a:buChar char="•"/>
            </a:pPr>
            <a:r>
              <a:rPr lang="en-IN" dirty="0">
                <a:hlinkClick r:id="rId4"/>
              </a:rPr>
              <a:t>https://www.wolterskluwer.com/en/expert-insights/risk-and-controls-self-assessment-rcsa-best-practices#:~:text=Risk%20and%20Controls%20Self%2DAssessment%20(RCSA)%20is%20a%20cornerstone,operations%20align%20with%20strategic%20objectives</a:t>
            </a:r>
            <a:endParaRPr lang="en-IN" dirty="0"/>
          </a:p>
          <a:p>
            <a:pPr marL="285750" indent="-285750">
              <a:buFont typeface="Arial" panose="020B0604020202020204" pitchFamily="34" charset="0"/>
              <a:buChar char="•"/>
            </a:pPr>
            <a:r>
              <a:rPr lang="en-IN" dirty="0"/>
              <a:t>AI: ChatGPT- Report structure, Extracting financial data from 10k report, recommendations for report</a:t>
            </a:r>
          </a:p>
          <a:p>
            <a:endParaRPr lang="en-IN" dirty="0"/>
          </a:p>
          <a:p>
            <a:endParaRPr lang="en-IN" dirty="0"/>
          </a:p>
          <a:p>
            <a:endParaRPr lang="en-IN" dirty="0"/>
          </a:p>
        </p:txBody>
      </p:sp>
      <p:sp>
        <p:nvSpPr>
          <p:cNvPr id="4" name="Slide Number Placeholder 3">
            <a:extLst>
              <a:ext uri="{FF2B5EF4-FFF2-40B4-BE49-F238E27FC236}">
                <a16:creationId xmlns:a16="http://schemas.microsoft.com/office/drawing/2014/main" id="{5B026FB9-D23C-EC99-AEDA-D357818C24B5}"/>
              </a:ext>
            </a:extLst>
          </p:cNvPr>
          <p:cNvSpPr>
            <a:spLocks noGrp="1"/>
          </p:cNvSpPr>
          <p:nvPr>
            <p:ph type="sldNum" sz="quarter" idx="12"/>
          </p:nvPr>
        </p:nvSpPr>
        <p:spPr/>
        <p:txBody>
          <a:bodyPr/>
          <a:lstStyle/>
          <a:p>
            <a:fld id="{FD9256D7-CCF9-45DD-9D83-392466C5837E}" type="slidenum">
              <a:rPr lang="en-IN" smtClean="0"/>
              <a:t>10</a:t>
            </a:fld>
            <a:endParaRPr lang="en-IN" dirty="0"/>
          </a:p>
        </p:txBody>
      </p:sp>
      <p:pic>
        <p:nvPicPr>
          <p:cNvPr id="7" name="Picture 6" descr="Amazon brand usage guidelines for 3-party display ads | Amazon Ads">
            <a:extLst>
              <a:ext uri="{FF2B5EF4-FFF2-40B4-BE49-F238E27FC236}">
                <a16:creationId xmlns:a16="http://schemas.microsoft.com/office/drawing/2014/main" id="{8FAF0CDD-AAED-3705-D11A-7B1B2BF21C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53800" y="6612969"/>
            <a:ext cx="720248" cy="217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3895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1C1F63-6AF5-55C4-B918-3C098F1663FD}"/>
              </a:ext>
            </a:extLst>
          </p:cNvPr>
          <p:cNvSpPr txBox="1"/>
          <p:nvPr/>
        </p:nvSpPr>
        <p:spPr>
          <a:xfrm>
            <a:off x="5047248" y="2844225"/>
            <a:ext cx="2097504" cy="584775"/>
          </a:xfrm>
          <a:prstGeom prst="rect">
            <a:avLst/>
          </a:prstGeom>
          <a:noFill/>
        </p:spPr>
        <p:txBody>
          <a:bodyPr wrap="square" rtlCol="0">
            <a:spAutoFit/>
          </a:bodyPr>
          <a:lstStyle/>
          <a:p>
            <a:r>
              <a:rPr lang="en-IN" sz="3200" b="1" dirty="0"/>
              <a:t>Annexures</a:t>
            </a:r>
          </a:p>
        </p:txBody>
      </p:sp>
      <p:sp>
        <p:nvSpPr>
          <p:cNvPr id="5" name="Slide Number Placeholder 4">
            <a:extLst>
              <a:ext uri="{FF2B5EF4-FFF2-40B4-BE49-F238E27FC236}">
                <a16:creationId xmlns:a16="http://schemas.microsoft.com/office/drawing/2014/main" id="{8D54F07C-88AB-CE13-98C7-168722C0E9CF}"/>
              </a:ext>
            </a:extLst>
          </p:cNvPr>
          <p:cNvSpPr>
            <a:spLocks noGrp="1"/>
          </p:cNvSpPr>
          <p:nvPr>
            <p:ph type="sldNum" sz="quarter" idx="12"/>
          </p:nvPr>
        </p:nvSpPr>
        <p:spPr/>
        <p:txBody>
          <a:bodyPr/>
          <a:lstStyle/>
          <a:p>
            <a:fld id="{FD9256D7-CCF9-45DD-9D83-392466C5837E}" type="slidenum">
              <a:rPr lang="en-IN" smtClean="0"/>
              <a:t>11</a:t>
            </a:fld>
            <a:endParaRPr lang="en-IN" dirty="0"/>
          </a:p>
        </p:txBody>
      </p:sp>
    </p:spTree>
    <p:extLst>
      <p:ext uri="{BB962C8B-B14F-4D97-AF65-F5344CB8AC3E}">
        <p14:creationId xmlns:p14="http://schemas.microsoft.com/office/powerpoint/2010/main" val="3666533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722A3-DED1-59DF-826B-99E68B13EDC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662F6A6-4166-F745-EC98-668521584DD2}"/>
              </a:ext>
            </a:extLst>
          </p:cNvPr>
          <p:cNvSpPr>
            <a:spLocks noGrp="1"/>
          </p:cNvSpPr>
          <p:nvPr>
            <p:ph type="sldNum" sz="quarter" idx="12"/>
          </p:nvPr>
        </p:nvSpPr>
        <p:spPr/>
        <p:txBody>
          <a:bodyPr/>
          <a:lstStyle/>
          <a:p>
            <a:fld id="{FD9256D7-CCF9-45DD-9D83-392466C5837E}" type="slidenum">
              <a:rPr lang="en-IN" smtClean="0"/>
              <a:t>12</a:t>
            </a:fld>
            <a:endParaRPr lang="en-IN" dirty="0"/>
          </a:p>
        </p:txBody>
      </p:sp>
      <p:sp>
        <p:nvSpPr>
          <p:cNvPr id="23" name="TextBox 22">
            <a:extLst>
              <a:ext uri="{FF2B5EF4-FFF2-40B4-BE49-F238E27FC236}">
                <a16:creationId xmlns:a16="http://schemas.microsoft.com/office/drawing/2014/main" id="{BA4DB1CD-D81E-215E-A42F-D64A41E65B3D}"/>
              </a:ext>
            </a:extLst>
          </p:cNvPr>
          <p:cNvSpPr txBox="1"/>
          <p:nvPr/>
        </p:nvSpPr>
        <p:spPr>
          <a:xfrm>
            <a:off x="3846962" y="1261688"/>
            <a:ext cx="1500060" cy="461665"/>
          </a:xfrm>
          <a:prstGeom prst="rect">
            <a:avLst/>
          </a:prstGeom>
          <a:solidFill>
            <a:schemeClr val="accent1">
              <a:lumMod val="40000"/>
              <a:lumOff val="60000"/>
            </a:schemeClr>
          </a:solidFill>
        </p:spPr>
        <p:txBody>
          <a:bodyPr wrap="square" rtlCol="0">
            <a:spAutoFit/>
          </a:bodyPr>
          <a:lstStyle/>
          <a:p>
            <a:r>
              <a:rPr lang="en-IN" sz="1200" b="1" dirty="0"/>
              <a:t>Phishing attacks on employees</a:t>
            </a:r>
          </a:p>
        </p:txBody>
      </p:sp>
      <p:sp>
        <p:nvSpPr>
          <p:cNvPr id="24" name="TextBox 23">
            <a:extLst>
              <a:ext uri="{FF2B5EF4-FFF2-40B4-BE49-F238E27FC236}">
                <a16:creationId xmlns:a16="http://schemas.microsoft.com/office/drawing/2014/main" id="{059D0681-C2C3-AB03-27F1-BC2AEC848DEB}"/>
              </a:ext>
            </a:extLst>
          </p:cNvPr>
          <p:cNvSpPr txBox="1"/>
          <p:nvPr/>
        </p:nvSpPr>
        <p:spPr>
          <a:xfrm>
            <a:off x="2086758" y="835940"/>
            <a:ext cx="1500060" cy="646331"/>
          </a:xfrm>
          <a:prstGeom prst="rect">
            <a:avLst/>
          </a:prstGeom>
          <a:solidFill>
            <a:schemeClr val="accent6">
              <a:lumMod val="40000"/>
              <a:lumOff val="60000"/>
            </a:schemeClr>
          </a:solidFill>
        </p:spPr>
        <p:txBody>
          <a:bodyPr wrap="square" rtlCol="0">
            <a:spAutoFit/>
          </a:bodyPr>
          <a:lstStyle/>
          <a:p>
            <a:r>
              <a:rPr lang="en-IN" sz="1200" b="1" dirty="0"/>
              <a:t>Regular cybersecurity awareness training</a:t>
            </a:r>
          </a:p>
        </p:txBody>
      </p:sp>
      <p:sp>
        <p:nvSpPr>
          <p:cNvPr id="25" name="TextBox 24">
            <a:extLst>
              <a:ext uri="{FF2B5EF4-FFF2-40B4-BE49-F238E27FC236}">
                <a16:creationId xmlns:a16="http://schemas.microsoft.com/office/drawing/2014/main" id="{FBD43ED5-E0A1-F58F-386E-F93C9F63CF8C}"/>
              </a:ext>
            </a:extLst>
          </p:cNvPr>
          <p:cNvSpPr txBox="1"/>
          <p:nvPr/>
        </p:nvSpPr>
        <p:spPr>
          <a:xfrm>
            <a:off x="2077799" y="1552082"/>
            <a:ext cx="1500060" cy="276999"/>
          </a:xfrm>
          <a:prstGeom prst="rect">
            <a:avLst/>
          </a:prstGeom>
          <a:solidFill>
            <a:schemeClr val="accent6">
              <a:lumMod val="40000"/>
              <a:lumOff val="60000"/>
            </a:schemeClr>
          </a:solidFill>
        </p:spPr>
        <p:txBody>
          <a:bodyPr wrap="square" rtlCol="0">
            <a:spAutoFit/>
          </a:bodyPr>
          <a:lstStyle/>
          <a:p>
            <a:r>
              <a:rPr lang="en-IN" sz="1200" b="1" dirty="0"/>
              <a:t>AI email filtering</a:t>
            </a:r>
          </a:p>
        </p:txBody>
      </p:sp>
      <p:sp>
        <p:nvSpPr>
          <p:cNvPr id="26" name="TextBox 25">
            <a:extLst>
              <a:ext uri="{FF2B5EF4-FFF2-40B4-BE49-F238E27FC236}">
                <a16:creationId xmlns:a16="http://schemas.microsoft.com/office/drawing/2014/main" id="{617A140D-2638-92AB-BBCD-2242B076A532}"/>
              </a:ext>
            </a:extLst>
          </p:cNvPr>
          <p:cNvSpPr txBox="1"/>
          <p:nvPr/>
        </p:nvSpPr>
        <p:spPr>
          <a:xfrm>
            <a:off x="3846962" y="2086894"/>
            <a:ext cx="1500060" cy="461665"/>
          </a:xfrm>
          <a:prstGeom prst="rect">
            <a:avLst/>
          </a:prstGeom>
          <a:solidFill>
            <a:schemeClr val="accent1">
              <a:lumMod val="40000"/>
              <a:lumOff val="60000"/>
            </a:schemeClr>
          </a:solidFill>
        </p:spPr>
        <p:txBody>
          <a:bodyPr wrap="square" rtlCol="0">
            <a:spAutoFit/>
          </a:bodyPr>
          <a:lstStyle/>
          <a:p>
            <a:r>
              <a:rPr lang="en-IN" sz="1200" b="1" dirty="0"/>
              <a:t>Exploitation of outdated software</a:t>
            </a:r>
          </a:p>
        </p:txBody>
      </p:sp>
      <p:sp>
        <p:nvSpPr>
          <p:cNvPr id="27" name="TextBox 26">
            <a:extLst>
              <a:ext uri="{FF2B5EF4-FFF2-40B4-BE49-F238E27FC236}">
                <a16:creationId xmlns:a16="http://schemas.microsoft.com/office/drawing/2014/main" id="{53A03A7F-9223-382E-0EEB-7B3CF64D6482}"/>
              </a:ext>
            </a:extLst>
          </p:cNvPr>
          <p:cNvSpPr txBox="1"/>
          <p:nvPr/>
        </p:nvSpPr>
        <p:spPr>
          <a:xfrm>
            <a:off x="2086758" y="2129242"/>
            <a:ext cx="1500060" cy="461665"/>
          </a:xfrm>
          <a:prstGeom prst="rect">
            <a:avLst/>
          </a:prstGeom>
          <a:solidFill>
            <a:schemeClr val="accent6">
              <a:lumMod val="40000"/>
              <a:lumOff val="60000"/>
            </a:schemeClr>
          </a:solidFill>
        </p:spPr>
        <p:txBody>
          <a:bodyPr wrap="square" rtlCol="0">
            <a:spAutoFit/>
          </a:bodyPr>
          <a:lstStyle/>
          <a:p>
            <a:r>
              <a:rPr lang="en-IN" sz="1200" b="1" dirty="0"/>
              <a:t>Regular security patches</a:t>
            </a:r>
          </a:p>
        </p:txBody>
      </p:sp>
      <p:cxnSp>
        <p:nvCxnSpPr>
          <p:cNvPr id="30" name="Straight Connector 29">
            <a:extLst>
              <a:ext uri="{FF2B5EF4-FFF2-40B4-BE49-F238E27FC236}">
                <a16:creationId xmlns:a16="http://schemas.microsoft.com/office/drawing/2014/main" id="{E2CC4646-AA9C-5FE5-947C-757E708E66CA}"/>
              </a:ext>
            </a:extLst>
          </p:cNvPr>
          <p:cNvCxnSpPr>
            <a:stCxn id="24" idx="3"/>
            <a:endCxn id="23" idx="1"/>
          </p:cNvCxnSpPr>
          <p:nvPr/>
        </p:nvCxnSpPr>
        <p:spPr>
          <a:xfrm>
            <a:off x="3586818" y="1159106"/>
            <a:ext cx="260144" cy="333415"/>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E78628-4EEC-F5A7-4DCA-5F6EC28260B5}"/>
              </a:ext>
            </a:extLst>
          </p:cNvPr>
          <p:cNvCxnSpPr>
            <a:stCxn id="25" idx="3"/>
            <a:endCxn id="23" idx="1"/>
          </p:cNvCxnSpPr>
          <p:nvPr/>
        </p:nvCxnSpPr>
        <p:spPr>
          <a:xfrm flipV="1">
            <a:off x="3577859" y="1492521"/>
            <a:ext cx="269103" cy="198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F1A1D5E-2471-3F52-E1BA-AF5D7D7BDDDF}"/>
              </a:ext>
            </a:extLst>
          </p:cNvPr>
          <p:cNvCxnSpPr>
            <a:cxnSpLocks/>
            <a:stCxn id="27" idx="3"/>
            <a:endCxn id="26" idx="1"/>
          </p:cNvCxnSpPr>
          <p:nvPr/>
        </p:nvCxnSpPr>
        <p:spPr>
          <a:xfrm flipV="1">
            <a:off x="3586818" y="2317727"/>
            <a:ext cx="260144" cy="42348"/>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B98E525-C94A-8B2C-B058-3372B4700C45}"/>
              </a:ext>
            </a:extLst>
          </p:cNvPr>
          <p:cNvSpPr txBox="1"/>
          <p:nvPr/>
        </p:nvSpPr>
        <p:spPr>
          <a:xfrm>
            <a:off x="5744493" y="1723353"/>
            <a:ext cx="1500060" cy="461665"/>
          </a:xfrm>
          <a:prstGeom prst="rect">
            <a:avLst/>
          </a:prstGeom>
          <a:solidFill>
            <a:srgbClr val="FF0000"/>
          </a:solidFill>
        </p:spPr>
        <p:txBody>
          <a:bodyPr wrap="square" rtlCol="0">
            <a:spAutoFit/>
          </a:bodyPr>
          <a:lstStyle/>
          <a:p>
            <a:r>
              <a:rPr lang="en-IN" sz="1200" b="1" dirty="0">
                <a:solidFill>
                  <a:schemeClr val="bg1"/>
                </a:solidFill>
              </a:rPr>
              <a:t>ATP attack breaches AWS environment</a:t>
            </a:r>
          </a:p>
        </p:txBody>
      </p:sp>
      <p:cxnSp>
        <p:nvCxnSpPr>
          <p:cNvPr id="39" name="Straight Connector 38">
            <a:extLst>
              <a:ext uri="{FF2B5EF4-FFF2-40B4-BE49-F238E27FC236}">
                <a16:creationId xmlns:a16="http://schemas.microsoft.com/office/drawing/2014/main" id="{7AF9075C-89E8-778D-D71D-5A465470703B}"/>
              </a:ext>
            </a:extLst>
          </p:cNvPr>
          <p:cNvCxnSpPr>
            <a:stCxn id="26" idx="3"/>
            <a:endCxn id="37" idx="1"/>
          </p:cNvCxnSpPr>
          <p:nvPr/>
        </p:nvCxnSpPr>
        <p:spPr>
          <a:xfrm flipV="1">
            <a:off x="5347022" y="1954186"/>
            <a:ext cx="397471" cy="363541"/>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C5A4DA0-3A84-9DB3-4847-3741261988EE}"/>
              </a:ext>
            </a:extLst>
          </p:cNvPr>
          <p:cNvCxnSpPr>
            <a:cxnSpLocks/>
            <a:stCxn id="23" idx="3"/>
          </p:cNvCxnSpPr>
          <p:nvPr/>
        </p:nvCxnSpPr>
        <p:spPr>
          <a:xfrm>
            <a:off x="5347022" y="1492521"/>
            <a:ext cx="407103" cy="461665"/>
          </a:xfrm>
          <a:prstGeom prst="line">
            <a:avLst/>
          </a:prstGeom>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62654F3-B191-05B6-9122-47B5D4C1F141}"/>
              </a:ext>
            </a:extLst>
          </p:cNvPr>
          <p:cNvSpPr txBox="1"/>
          <p:nvPr/>
        </p:nvSpPr>
        <p:spPr>
          <a:xfrm>
            <a:off x="7729101" y="1369987"/>
            <a:ext cx="1500060" cy="646331"/>
          </a:xfrm>
          <a:prstGeom prst="rect">
            <a:avLst/>
          </a:prstGeom>
          <a:solidFill>
            <a:schemeClr val="accent2">
              <a:lumMod val="60000"/>
              <a:lumOff val="40000"/>
            </a:schemeClr>
          </a:solidFill>
        </p:spPr>
        <p:txBody>
          <a:bodyPr wrap="square" rtlCol="0">
            <a:spAutoFit/>
          </a:bodyPr>
          <a:lstStyle/>
          <a:p>
            <a:r>
              <a:rPr lang="en-IN" sz="1200" b="1" dirty="0"/>
              <a:t>Business disruption- AWS systems go offline</a:t>
            </a:r>
          </a:p>
        </p:txBody>
      </p:sp>
      <p:sp>
        <p:nvSpPr>
          <p:cNvPr id="45" name="TextBox 44">
            <a:extLst>
              <a:ext uri="{FF2B5EF4-FFF2-40B4-BE49-F238E27FC236}">
                <a16:creationId xmlns:a16="http://schemas.microsoft.com/office/drawing/2014/main" id="{0B7EC712-A59D-4BAA-CCCC-EB558B4BBDD5}"/>
              </a:ext>
            </a:extLst>
          </p:cNvPr>
          <p:cNvSpPr txBox="1"/>
          <p:nvPr/>
        </p:nvSpPr>
        <p:spPr>
          <a:xfrm>
            <a:off x="7729101" y="2086894"/>
            <a:ext cx="1500060" cy="646331"/>
          </a:xfrm>
          <a:prstGeom prst="rect">
            <a:avLst/>
          </a:prstGeom>
          <a:solidFill>
            <a:schemeClr val="accent2">
              <a:lumMod val="60000"/>
              <a:lumOff val="40000"/>
            </a:schemeClr>
          </a:solidFill>
        </p:spPr>
        <p:txBody>
          <a:bodyPr wrap="square" rtlCol="0">
            <a:spAutoFit/>
          </a:bodyPr>
          <a:lstStyle/>
          <a:p>
            <a:r>
              <a:rPr lang="en-IN" sz="1200" b="1" dirty="0"/>
              <a:t>Leakage of confidential customer data</a:t>
            </a:r>
          </a:p>
        </p:txBody>
      </p:sp>
      <p:cxnSp>
        <p:nvCxnSpPr>
          <p:cNvPr id="47" name="Straight Connector 46">
            <a:extLst>
              <a:ext uri="{FF2B5EF4-FFF2-40B4-BE49-F238E27FC236}">
                <a16:creationId xmlns:a16="http://schemas.microsoft.com/office/drawing/2014/main" id="{6D8F6B4E-0AEE-51DD-CA83-04734B4BBBCE}"/>
              </a:ext>
            </a:extLst>
          </p:cNvPr>
          <p:cNvCxnSpPr>
            <a:stCxn id="37" idx="3"/>
            <a:endCxn id="44" idx="1"/>
          </p:cNvCxnSpPr>
          <p:nvPr/>
        </p:nvCxnSpPr>
        <p:spPr>
          <a:xfrm flipV="1">
            <a:off x="7244553" y="1693153"/>
            <a:ext cx="484548" cy="261033"/>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5881C8F-66E8-4AA1-4391-A8E183EE2F5D}"/>
              </a:ext>
            </a:extLst>
          </p:cNvPr>
          <p:cNvCxnSpPr>
            <a:cxnSpLocks/>
            <a:stCxn id="37" idx="3"/>
            <a:endCxn id="45" idx="1"/>
          </p:cNvCxnSpPr>
          <p:nvPr/>
        </p:nvCxnSpPr>
        <p:spPr>
          <a:xfrm>
            <a:off x="7244553" y="1954186"/>
            <a:ext cx="484548" cy="455874"/>
          </a:xfrm>
          <a:prstGeom prst="line">
            <a:avLst/>
          </a:prstGeom>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906E98FF-5389-C5D1-B487-C30F4DF0AE86}"/>
              </a:ext>
            </a:extLst>
          </p:cNvPr>
          <p:cNvSpPr txBox="1"/>
          <p:nvPr/>
        </p:nvSpPr>
        <p:spPr>
          <a:xfrm>
            <a:off x="3775156" y="4529474"/>
            <a:ext cx="1500060" cy="646331"/>
          </a:xfrm>
          <a:prstGeom prst="rect">
            <a:avLst/>
          </a:prstGeom>
          <a:solidFill>
            <a:schemeClr val="accent1">
              <a:lumMod val="40000"/>
              <a:lumOff val="60000"/>
            </a:schemeClr>
          </a:solidFill>
        </p:spPr>
        <p:txBody>
          <a:bodyPr wrap="square" rtlCol="0">
            <a:spAutoFit/>
          </a:bodyPr>
          <a:lstStyle/>
          <a:p>
            <a:r>
              <a:rPr lang="en-IN" sz="1200" b="1" dirty="0"/>
              <a:t>Governments suddenly update data protection laws</a:t>
            </a:r>
          </a:p>
        </p:txBody>
      </p:sp>
      <p:sp>
        <p:nvSpPr>
          <p:cNvPr id="52" name="TextBox 51">
            <a:extLst>
              <a:ext uri="{FF2B5EF4-FFF2-40B4-BE49-F238E27FC236}">
                <a16:creationId xmlns:a16="http://schemas.microsoft.com/office/drawing/2014/main" id="{03CE71BE-A222-1CC4-A80E-BDB1CDD4BF0E}"/>
              </a:ext>
            </a:extLst>
          </p:cNvPr>
          <p:cNvSpPr txBox="1"/>
          <p:nvPr/>
        </p:nvSpPr>
        <p:spPr>
          <a:xfrm>
            <a:off x="2014952" y="3991442"/>
            <a:ext cx="1500060" cy="646331"/>
          </a:xfrm>
          <a:prstGeom prst="rect">
            <a:avLst/>
          </a:prstGeom>
          <a:solidFill>
            <a:schemeClr val="accent6">
              <a:lumMod val="40000"/>
              <a:lumOff val="60000"/>
            </a:schemeClr>
          </a:solidFill>
        </p:spPr>
        <p:txBody>
          <a:bodyPr wrap="square" rtlCol="0">
            <a:spAutoFit/>
          </a:bodyPr>
          <a:lstStyle/>
          <a:p>
            <a:r>
              <a:rPr lang="en-IN" sz="1200" b="1" dirty="0"/>
              <a:t>Engage with local regulatory boy and legal advisors</a:t>
            </a:r>
          </a:p>
        </p:txBody>
      </p:sp>
      <p:sp>
        <p:nvSpPr>
          <p:cNvPr id="53" name="TextBox 52">
            <a:extLst>
              <a:ext uri="{FF2B5EF4-FFF2-40B4-BE49-F238E27FC236}">
                <a16:creationId xmlns:a16="http://schemas.microsoft.com/office/drawing/2014/main" id="{614C0C72-4402-AD86-B138-55917C697A93}"/>
              </a:ext>
            </a:extLst>
          </p:cNvPr>
          <p:cNvSpPr txBox="1"/>
          <p:nvPr/>
        </p:nvSpPr>
        <p:spPr>
          <a:xfrm>
            <a:off x="2004836" y="4693399"/>
            <a:ext cx="1500060" cy="646331"/>
          </a:xfrm>
          <a:prstGeom prst="rect">
            <a:avLst/>
          </a:prstGeom>
          <a:solidFill>
            <a:schemeClr val="accent6">
              <a:lumMod val="40000"/>
              <a:lumOff val="60000"/>
            </a:schemeClr>
          </a:solidFill>
        </p:spPr>
        <p:txBody>
          <a:bodyPr wrap="square" rtlCol="0">
            <a:spAutoFit/>
          </a:bodyPr>
          <a:lstStyle/>
          <a:p>
            <a:r>
              <a:rPr lang="en-IN" sz="1200" b="1" dirty="0"/>
              <a:t>Dedicated regulatory monitoring team</a:t>
            </a:r>
          </a:p>
        </p:txBody>
      </p:sp>
      <p:sp>
        <p:nvSpPr>
          <p:cNvPr id="54" name="TextBox 53">
            <a:extLst>
              <a:ext uri="{FF2B5EF4-FFF2-40B4-BE49-F238E27FC236}">
                <a16:creationId xmlns:a16="http://schemas.microsoft.com/office/drawing/2014/main" id="{5DE0119D-13F1-4045-C441-C646BB15F1A8}"/>
              </a:ext>
            </a:extLst>
          </p:cNvPr>
          <p:cNvSpPr txBox="1"/>
          <p:nvPr/>
        </p:nvSpPr>
        <p:spPr>
          <a:xfrm>
            <a:off x="3775156" y="5354680"/>
            <a:ext cx="1500060" cy="646331"/>
          </a:xfrm>
          <a:prstGeom prst="rect">
            <a:avLst/>
          </a:prstGeom>
          <a:solidFill>
            <a:schemeClr val="accent1">
              <a:lumMod val="40000"/>
              <a:lumOff val="60000"/>
            </a:schemeClr>
          </a:solidFill>
        </p:spPr>
        <p:txBody>
          <a:bodyPr wrap="square" rtlCol="0">
            <a:spAutoFit/>
          </a:bodyPr>
          <a:lstStyle/>
          <a:p>
            <a:r>
              <a:rPr lang="en-IN" sz="1200" b="1" dirty="0"/>
              <a:t>Company policies not tailored to local laws</a:t>
            </a:r>
          </a:p>
        </p:txBody>
      </p:sp>
      <p:sp>
        <p:nvSpPr>
          <p:cNvPr id="55" name="TextBox 54">
            <a:extLst>
              <a:ext uri="{FF2B5EF4-FFF2-40B4-BE49-F238E27FC236}">
                <a16:creationId xmlns:a16="http://schemas.microsoft.com/office/drawing/2014/main" id="{537EB6A8-D25B-24C8-A9A8-062871BD480A}"/>
              </a:ext>
            </a:extLst>
          </p:cNvPr>
          <p:cNvSpPr txBox="1"/>
          <p:nvPr/>
        </p:nvSpPr>
        <p:spPr>
          <a:xfrm>
            <a:off x="2014952" y="5524927"/>
            <a:ext cx="1500060" cy="830997"/>
          </a:xfrm>
          <a:prstGeom prst="rect">
            <a:avLst/>
          </a:prstGeom>
          <a:solidFill>
            <a:schemeClr val="accent6">
              <a:lumMod val="40000"/>
              <a:lumOff val="60000"/>
            </a:schemeClr>
          </a:solidFill>
        </p:spPr>
        <p:txBody>
          <a:bodyPr wrap="square" rtlCol="0">
            <a:spAutoFit/>
          </a:bodyPr>
          <a:lstStyle/>
          <a:p>
            <a:r>
              <a:rPr lang="en-IN" sz="1200" b="1" dirty="0"/>
              <a:t>Develop region specific compliance strategies with local officers</a:t>
            </a:r>
          </a:p>
        </p:txBody>
      </p:sp>
      <p:cxnSp>
        <p:nvCxnSpPr>
          <p:cNvPr id="56" name="Straight Connector 55">
            <a:extLst>
              <a:ext uri="{FF2B5EF4-FFF2-40B4-BE49-F238E27FC236}">
                <a16:creationId xmlns:a16="http://schemas.microsoft.com/office/drawing/2014/main" id="{3753E5F5-2FD0-13AA-F5C9-075551A933AF}"/>
              </a:ext>
            </a:extLst>
          </p:cNvPr>
          <p:cNvCxnSpPr>
            <a:stCxn id="52" idx="3"/>
            <a:endCxn id="51" idx="1"/>
          </p:cNvCxnSpPr>
          <p:nvPr/>
        </p:nvCxnSpPr>
        <p:spPr>
          <a:xfrm>
            <a:off x="3515012" y="4314608"/>
            <a:ext cx="260144" cy="53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552D855-71F4-7D95-B516-35BBF34F3A90}"/>
              </a:ext>
            </a:extLst>
          </p:cNvPr>
          <p:cNvCxnSpPr>
            <a:stCxn id="53" idx="3"/>
            <a:endCxn id="51" idx="1"/>
          </p:cNvCxnSpPr>
          <p:nvPr/>
        </p:nvCxnSpPr>
        <p:spPr>
          <a:xfrm flipV="1">
            <a:off x="3504896" y="4852640"/>
            <a:ext cx="270260" cy="163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FBC523B-8A4E-3BBC-75BD-72350BF1A274}"/>
              </a:ext>
            </a:extLst>
          </p:cNvPr>
          <p:cNvCxnSpPr>
            <a:cxnSpLocks/>
            <a:stCxn id="55" idx="3"/>
            <a:endCxn id="54" idx="1"/>
          </p:cNvCxnSpPr>
          <p:nvPr/>
        </p:nvCxnSpPr>
        <p:spPr>
          <a:xfrm flipV="1">
            <a:off x="3515012" y="5677846"/>
            <a:ext cx="260144" cy="262580"/>
          </a:xfrm>
          <a:prstGeom prst="line">
            <a:avLst/>
          </a:prstGeom>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99CB7AA-C0E5-055C-CC61-8B79F91723A7}"/>
              </a:ext>
            </a:extLst>
          </p:cNvPr>
          <p:cNvSpPr txBox="1"/>
          <p:nvPr/>
        </p:nvSpPr>
        <p:spPr>
          <a:xfrm>
            <a:off x="5672687" y="4991139"/>
            <a:ext cx="1500060" cy="830997"/>
          </a:xfrm>
          <a:prstGeom prst="rect">
            <a:avLst/>
          </a:prstGeom>
          <a:solidFill>
            <a:srgbClr val="FF0000"/>
          </a:solidFill>
        </p:spPr>
        <p:txBody>
          <a:bodyPr wrap="square" rtlCol="0">
            <a:spAutoFit/>
          </a:bodyPr>
          <a:lstStyle/>
          <a:p>
            <a:r>
              <a:rPr lang="en-IN" sz="1200" b="1" dirty="0">
                <a:solidFill>
                  <a:schemeClr val="bg1"/>
                </a:solidFill>
              </a:rPr>
              <a:t>Regulatory breach and compliance failure in China or India</a:t>
            </a:r>
          </a:p>
        </p:txBody>
      </p:sp>
      <p:cxnSp>
        <p:nvCxnSpPr>
          <p:cNvPr id="60" name="Straight Connector 59">
            <a:extLst>
              <a:ext uri="{FF2B5EF4-FFF2-40B4-BE49-F238E27FC236}">
                <a16:creationId xmlns:a16="http://schemas.microsoft.com/office/drawing/2014/main" id="{51BEB5C5-45B1-743A-656A-05C20614E43D}"/>
              </a:ext>
            </a:extLst>
          </p:cNvPr>
          <p:cNvCxnSpPr>
            <a:stCxn id="54" idx="3"/>
            <a:endCxn id="59" idx="1"/>
          </p:cNvCxnSpPr>
          <p:nvPr/>
        </p:nvCxnSpPr>
        <p:spPr>
          <a:xfrm flipV="1">
            <a:off x="5275216" y="5406638"/>
            <a:ext cx="397471" cy="2712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12BDC2F-13B9-07AF-49B5-A337E5F58E81}"/>
              </a:ext>
            </a:extLst>
          </p:cNvPr>
          <p:cNvCxnSpPr>
            <a:cxnSpLocks/>
            <a:stCxn id="51" idx="3"/>
          </p:cNvCxnSpPr>
          <p:nvPr/>
        </p:nvCxnSpPr>
        <p:spPr>
          <a:xfrm>
            <a:off x="5275216" y="4852640"/>
            <a:ext cx="407103" cy="369332"/>
          </a:xfrm>
          <a:prstGeom prst="line">
            <a:avLst/>
          </a:prstGeom>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34B98337-12BA-0772-97AF-A8113C96802F}"/>
              </a:ext>
            </a:extLst>
          </p:cNvPr>
          <p:cNvSpPr txBox="1"/>
          <p:nvPr/>
        </p:nvSpPr>
        <p:spPr>
          <a:xfrm>
            <a:off x="7657295" y="4637773"/>
            <a:ext cx="1500060" cy="461665"/>
          </a:xfrm>
          <a:prstGeom prst="rect">
            <a:avLst/>
          </a:prstGeom>
          <a:solidFill>
            <a:schemeClr val="accent2">
              <a:lumMod val="60000"/>
              <a:lumOff val="40000"/>
            </a:schemeClr>
          </a:solidFill>
        </p:spPr>
        <p:txBody>
          <a:bodyPr wrap="square" rtlCol="0">
            <a:spAutoFit/>
          </a:bodyPr>
          <a:lstStyle/>
          <a:p>
            <a:r>
              <a:rPr lang="en-IN" sz="1200" b="1" dirty="0"/>
              <a:t>Hefty fines and legal penalties</a:t>
            </a:r>
          </a:p>
        </p:txBody>
      </p:sp>
      <p:sp>
        <p:nvSpPr>
          <p:cNvPr id="63" name="TextBox 62">
            <a:extLst>
              <a:ext uri="{FF2B5EF4-FFF2-40B4-BE49-F238E27FC236}">
                <a16:creationId xmlns:a16="http://schemas.microsoft.com/office/drawing/2014/main" id="{6C11734A-DAA0-3CF8-30DC-4B40A754CFE9}"/>
              </a:ext>
            </a:extLst>
          </p:cNvPr>
          <p:cNvSpPr txBox="1"/>
          <p:nvPr/>
        </p:nvSpPr>
        <p:spPr>
          <a:xfrm>
            <a:off x="7657295" y="5354680"/>
            <a:ext cx="1500060" cy="646331"/>
          </a:xfrm>
          <a:prstGeom prst="rect">
            <a:avLst/>
          </a:prstGeom>
          <a:solidFill>
            <a:schemeClr val="accent2">
              <a:lumMod val="60000"/>
              <a:lumOff val="40000"/>
            </a:schemeClr>
          </a:solidFill>
        </p:spPr>
        <p:txBody>
          <a:bodyPr wrap="square" rtlCol="0">
            <a:spAutoFit/>
          </a:bodyPr>
          <a:lstStyle/>
          <a:p>
            <a:r>
              <a:rPr lang="en-IN" sz="1200" b="1" dirty="0"/>
              <a:t>Operational disruption, license revocation</a:t>
            </a:r>
          </a:p>
        </p:txBody>
      </p:sp>
      <p:cxnSp>
        <p:nvCxnSpPr>
          <p:cNvPr id="64" name="Straight Connector 63">
            <a:extLst>
              <a:ext uri="{FF2B5EF4-FFF2-40B4-BE49-F238E27FC236}">
                <a16:creationId xmlns:a16="http://schemas.microsoft.com/office/drawing/2014/main" id="{EB9FCA4E-AF0D-2838-FDB7-D29104414D58}"/>
              </a:ext>
            </a:extLst>
          </p:cNvPr>
          <p:cNvCxnSpPr>
            <a:stCxn id="59" idx="3"/>
            <a:endCxn id="62" idx="1"/>
          </p:cNvCxnSpPr>
          <p:nvPr/>
        </p:nvCxnSpPr>
        <p:spPr>
          <a:xfrm flipV="1">
            <a:off x="7172747" y="4868606"/>
            <a:ext cx="484548" cy="53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FF9DEEC-B9C3-AD24-CAF5-F10BF299CAE5}"/>
              </a:ext>
            </a:extLst>
          </p:cNvPr>
          <p:cNvCxnSpPr>
            <a:cxnSpLocks/>
            <a:stCxn id="59" idx="3"/>
            <a:endCxn id="63" idx="1"/>
          </p:cNvCxnSpPr>
          <p:nvPr/>
        </p:nvCxnSpPr>
        <p:spPr>
          <a:xfrm>
            <a:off x="7172747" y="5406638"/>
            <a:ext cx="484548" cy="271208"/>
          </a:xfrm>
          <a:prstGeom prst="line">
            <a:avLst/>
          </a:prstGeom>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947F2A00-8D52-9A17-5AFE-4C5E272E5F98}"/>
              </a:ext>
            </a:extLst>
          </p:cNvPr>
          <p:cNvSpPr txBox="1"/>
          <p:nvPr/>
        </p:nvSpPr>
        <p:spPr>
          <a:xfrm>
            <a:off x="2014951" y="375926"/>
            <a:ext cx="2943547" cy="461665"/>
          </a:xfrm>
          <a:prstGeom prst="rect">
            <a:avLst/>
          </a:prstGeom>
          <a:noFill/>
        </p:spPr>
        <p:txBody>
          <a:bodyPr wrap="square" rtlCol="0">
            <a:spAutoFit/>
          </a:bodyPr>
          <a:lstStyle/>
          <a:p>
            <a:r>
              <a:rPr lang="en-IN" sz="1200" dirty="0"/>
              <a:t>Annexure A</a:t>
            </a:r>
          </a:p>
          <a:p>
            <a:r>
              <a:rPr lang="en-IN" sz="1200" dirty="0"/>
              <a:t>Bow-tie analysis- Cybersecurity threat</a:t>
            </a:r>
          </a:p>
        </p:txBody>
      </p:sp>
      <p:sp>
        <p:nvSpPr>
          <p:cNvPr id="70" name="TextBox 69">
            <a:extLst>
              <a:ext uri="{FF2B5EF4-FFF2-40B4-BE49-F238E27FC236}">
                <a16:creationId xmlns:a16="http://schemas.microsoft.com/office/drawing/2014/main" id="{A68943A9-4C97-6C5E-9079-1FAFB4AA440F}"/>
              </a:ext>
            </a:extLst>
          </p:cNvPr>
          <p:cNvSpPr txBox="1"/>
          <p:nvPr/>
        </p:nvSpPr>
        <p:spPr>
          <a:xfrm>
            <a:off x="2014951" y="3469192"/>
            <a:ext cx="5479357" cy="461665"/>
          </a:xfrm>
          <a:prstGeom prst="rect">
            <a:avLst/>
          </a:prstGeom>
          <a:noFill/>
        </p:spPr>
        <p:txBody>
          <a:bodyPr wrap="square" rtlCol="0">
            <a:spAutoFit/>
          </a:bodyPr>
          <a:lstStyle/>
          <a:p>
            <a:r>
              <a:rPr lang="en-IN" sz="1200" dirty="0"/>
              <a:t>Annexure B</a:t>
            </a:r>
          </a:p>
          <a:p>
            <a:r>
              <a:rPr lang="en-IN" sz="1200" dirty="0"/>
              <a:t>Bow-tie analysis- Regulatory and third party compliance failure in China and India</a:t>
            </a:r>
          </a:p>
        </p:txBody>
      </p:sp>
      <p:sp>
        <p:nvSpPr>
          <p:cNvPr id="2" name="Rectangle 1">
            <a:extLst>
              <a:ext uri="{FF2B5EF4-FFF2-40B4-BE49-F238E27FC236}">
                <a16:creationId xmlns:a16="http://schemas.microsoft.com/office/drawing/2014/main" id="{03DA6036-4712-C664-8860-C7E4D5E53A93}"/>
              </a:ext>
            </a:extLst>
          </p:cNvPr>
          <p:cNvSpPr/>
          <p:nvPr/>
        </p:nvSpPr>
        <p:spPr>
          <a:xfrm>
            <a:off x="3670043" y="835940"/>
            <a:ext cx="5661075" cy="215149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400161AC-6773-D54E-07FA-5DD37A7E514E}"/>
              </a:ext>
            </a:extLst>
          </p:cNvPr>
          <p:cNvSpPr/>
          <p:nvPr/>
        </p:nvSpPr>
        <p:spPr>
          <a:xfrm>
            <a:off x="3663985" y="4179451"/>
            <a:ext cx="5661075" cy="215149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85149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450C68-59FC-2809-4E14-E0A81E977AFF}"/>
              </a:ext>
            </a:extLst>
          </p:cNvPr>
          <p:cNvSpPr>
            <a:spLocks noGrp="1"/>
          </p:cNvSpPr>
          <p:nvPr>
            <p:ph type="sldNum" sz="quarter" idx="12"/>
          </p:nvPr>
        </p:nvSpPr>
        <p:spPr/>
        <p:txBody>
          <a:bodyPr/>
          <a:lstStyle/>
          <a:p>
            <a:fld id="{FD9256D7-CCF9-45DD-9D83-392466C5837E}" type="slidenum">
              <a:rPr lang="en-IN" smtClean="0"/>
              <a:t>13</a:t>
            </a:fld>
            <a:endParaRPr lang="en-IN" dirty="0"/>
          </a:p>
        </p:txBody>
      </p:sp>
      <p:graphicFrame>
        <p:nvGraphicFramePr>
          <p:cNvPr id="8" name="Table 7">
            <a:extLst>
              <a:ext uri="{FF2B5EF4-FFF2-40B4-BE49-F238E27FC236}">
                <a16:creationId xmlns:a16="http://schemas.microsoft.com/office/drawing/2014/main" id="{7AAA8CFE-5ECD-BF78-66F6-7FC56A33A790}"/>
              </a:ext>
            </a:extLst>
          </p:cNvPr>
          <p:cNvGraphicFramePr>
            <a:graphicFrameLocks noGrp="1"/>
          </p:cNvGraphicFramePr>
          <p:nvPr>
            <p:extLst>
              <p:ext uri="{D42A27DB-BD31-4B8C-83A1-F6EECF244321}">
                <p14:modId xmlns:p14="http://schemas.microsoft.com/office/powerpoint/2010/main" val="1992090888"/>
              </p:ext>
            </p:extLst>
          </p:nvPr>
        </p:nvGraphicFramePr>
        <p:xfrm>
          <a:off x="240625" y="582276"/>
          <a:ext cx="3336763" cy="1854200"/>
        </p:xfrm>
        <a:graphic>
          <a:graphicData uri="http://schemas.openxmlformats.org/drawingml/2006/table">
            <a:tbl>
              <a:tblPr firstRow="1" bandRow="1">
                <a:tableStyleId>{5C22544A-7EE6-4342-B048-85BDC9FD1C3A}</a:tableStyleId>
              </a:tblPr>
              <a:tblGrid>
                <a:gridCol w="1652342">
                  <a:extLst>
                    <a:ext uri="{9D8B030D-6E8A-4147-A177-3AD203B41FA5}">
                      <a16:colId xmlns:a16="http://schemas.microsoft.com/office/drawing/2014/main" val="819738036"/>
                    </a:ext>
                  </a:extLst>
                </a:gridCol>
                <a:gridCol w="1684421">
                  <a:extLst>
                    <a:ext uri="{9D8B030D-6E8A-4147-A177-3AD203B41FA5}">
                      <a16:colId xmlns:a16="http://schemas.microsoft.com/office/drawing/2014/main" val="3075308515"/>
                    </a:ext>
                  </a:extLst>
                </a:gridCol>
              </a:tblGrid>
              <a:tr h="370840">
                <a:tc>
                  <a:txBody>
                    <a:bodyPr/>
                    <a:lstStyle/>
                    <a:p>
                      <a:r>
                        <a:rPr lang="en-IN" sz="1200" dirty="0"/>
                        <a:t>Severity </a:t>
                      </a:r>
                    </a:p>
                  </a:txBody>
                  <a:tcPr/>
                </a:tc>
                <a:tc>
                  <a:txBody>
                    <a:bodyPr/>
                    <a:lstStyle/>
                    <a:p>
                      <a:r>
                        <a:rPr lang="en-IN" sz="1200" dirty="0"/>
                        <a:t>Financial impact</a:t>
                      </a:r>
                    </a:p>
                  </a:txBody>
                  <a:tcPr/>
                </a:tc>
                <a:extLst>
                  <a:ext uri="{0D108BD9-81ED-4DB2-BD59-A6C34878D82A}">
                    <a16:rowId xmlns:a16="http://schemas.microsoft.com/office/drawing/2014/main" val="2675527482"/>
                  </a:ext>
                </a:extLst>
              </a:tr>
              <a:tr h="370840">
                <a:tc>
                  <a:txBody>
                    <a:bodyPr/>
                    <a:lstStyle/>
                    <a:p>
                      <a:r>
                        <a:rPr lang="en-IN" sz="1200" dirty="0"/>
                        <a:t>(1) Low</a:t>
                      </a:r>
                    </a:p>
                  </a:txBody>
                  <a:tcPr/>
                </a:tc>
                <a:tc>
                  <a:txBody>
                    <a:bodyPr/>
                    <a:lstStyle/>
                    <a:p>
                      <a:r>
                        <a:rPr lang="en-IN" sz="1200" dirty="0"/>
                        <a:t>&lt;$50M</a:t>
                      </a:r>
                    </a:p>
                  </a:txBody>
                  <a:tcPr/>
                </a:tc>
                <a:extLst>
                  <a:ext uri="{0D108BD9-81ED-4DB2-BD59-A6C34878D82A}">
                    <a16:rowId xmlns:a16="http://schemas.microsoft.com/office/drawing/2014/main" val="1674712281"/>
                  </a:ext>
                </a:extLst>
              </a:tr>
              <a:tr h="370840">
                <a:tc>
                  <a:txBody>
                    <a:bodyPr/>
                    <a:lstStyle/>
                    <a:p>
                      <a:r>
                        <a:rPr lang="en-IN" sz="1200" dirty="0"/>
                        <a:t>(2) Medium</a:t>
                      </a:r>
                    </a:p>
                  </a:txBody>
                  <a:tcPr/>
                </a:tc>
                <a:tc>
                  <a:txBody>
                    <a:bodyPr/>
                    <a:lstStyle/>
                    <a:p>
                      <a:r>
                        <a:rPr lang="en-IN" sz="1200" dirty="0"/>
                        <a:t>$50M-$500M</a:t>
                      </a:r>
                    </a:p>
                  </a:txBody>
                  <a:tcPr/>
                </a:tc>
                <a:extLst>
                  <a:ext uri="{0D108BD9-81ED-4DB2-BD59-A6C34878D82A}">
                    <a16:rowId xmlns:a16="http://schemas.microsoft.com/office/drawing/2014/main" val="789065649"/>
                  </a:ext>
                </a:extLst>
              </a:tr>
              <a:tr h="370840">
                <a:tc>
                  <a:txBody>
                    <a:bodyPr/>
                    <a:lstStyle/>
                    <a:p>
                      <a:r>
                        <a:rPr lang="en-IN" sz="1200" dirty="0"/>
                        <a:t>(3) High</a:t>
                      </a:r>
                    </a:p>
                  </a:txBody>
                  <a:tcPr/>
                </a:tc>
                <a:tc>
                  <a:txBody>
                    <a:bodyPr/>
                    <a:lstStyle/>
                    <a:p>
                      <a:r>
                        <a:rPr lang="en-IN" sz="1200" dirty="0"/>
                        <a:t>$500M-$1B</a:t>
                      </a:r>
                    </a:p>
                  </a:txBody>
                  <a:tcPr/>
                </a:tc>
                <a:extLst>
                  <a:ext uri="{0D108BD9-81ED-4DB2-BD59-A6C34878D82A}">
                    <a16:rowId xmlns:a16="http://schemas.microsoft.com/office/drawing/2014/main" val="1236861043"/>
                  </a:ext>
                </a:extLst>
              </a:tr>
              <a:tr h="370840">
                <a:tc>
                  <a:txBody>
                    <a:bodyPr/>
                    <a:lstStyle/>
                    <a:p>
                      <a:r>
                        <a:rPr lang="en-IN" sz="1200" dirty="0"/>
                        <a:t>(4) Critical</a:t>
                      </a:r>
                    </a:p>
                  </a:txBody>
                  <a:tcPr/>
                </a:tc>
                <a:tc>
                  <a:txBody>
                    <a:bodyPr/>
                    <a:lstStyle/>
                    <a:p>
                      <a:r>
                        <a:rPr lang="en-IN" sz="1200" dirty="0"/>
                        <a:t>&gt;$1B</a:t>
                      </a:r>
                    </a:p>
                  </a:txBody>
                  <a:tcPr/>
                </a:tc>
                <a:extLst>
                  <a:ext uri="{0D108BD9-81ED-4DB2-BD59-A6C34878D82A}">
                    <a16:rowId xmlns:a16="http://schemas.microsoft.com/office/drawing/2014/main" val="3569167354"/>
                  </a:ext>
                </a:extLst>
              </a:tr>
            </a:tbl>
          </a:graphicData>
        </a:graphic>
      </p:graphicFrame>
      <p:sp>
        <p:nvSpPr>
          <p:cNvPr id="9" name="TextBox 8">
            <a:extLst>
              <a:ext uri="{FF2B5EF4-FFF2-40B4-BE49-F238E27FC236}">
                <a16:creationId xmlns:a16="http://schemas.microsoft.com/office/drawing/2014/main" id="{FC4106DB-C892-48F3-49AA-40144A6FA85C}"/>
              </a:ext>
            </a:extLst>
          </p:cNvPr>
          <p:cNvSpPr txBox="1"/>
          <p:nvPr/>
        </p:nvSpPr>
        <p:spPr>
          <a:xfrm>
            <a:off x="240626" y="305277"/>
            <a:ext cx="4746150" cy="276999"/>
          </a:xfrm>
          <a:prstGeom prst="rect">
            <a:avLst/>
          </a:prstGeom>
          <a:noFill/>
        </p:spPr>
        <p:txBody>
          <a:bodyPr wrap="square" rtlCol="0">
            <a:spAutoFit/>
          </a:bodyPr>
          <a:lstStyle/>
          <a:p>
            <a:r>
              <a:rPr lang="en-IN" sz="1200" u="sng" dirty="0"/>
              <a:t>Severity scale based on Amazon’s revenue ($500B+)</a:t>
            </a:r>
          </a:p>
        </p:txBody>
      </p:sp>
      <p:graphicFrame>
        <p:nvGraphicFramePr>
          <p:cNvPr id="10" name="Table 9">
            <a:extLst>
              <a:ext uri="{FF2B5EF4-FFF2-40B4-BE49-F238E27FC236}">
                <a16:creationId xmlns:a16="http://schemas.microsoft.com/office/drawing/2014/main" id="{B922FBB1-35A0-44D5-703D-06E21830AFFE}"/>
              </a:ext>
            </a:extLst>
          </p:cNvPr>
          <p:cNvGraphicFramePr>
            <a:graphicFrameLocks noGrp="1"/>
          </p:cNvGraphicFramePr>
          <p:nvPr>
            <p:extLst>
              <p:ext uri="{D42A27DB-BD31-4B8C-83A1-F6EECF244321}">
                <p14:modId xmlns:p14="http://schemas.microsoft.com/office/powerpoint/2010/main" val="3433349816"/>
              </p:ext>
            </p:extLst>
          </p:nvPr>
        </p:nvGraphicFramePr>
        <p:xfrm>
          <a:off x="240624" y="2921077"/>
          <a:ext cx="3336763" cy="2225040"/>
        </p:xfrm>
        <a:graphic>
          <a:graphicData uri="http://schemas.openxmlformats.org/drawingml/2006/table">
            <a:tbl>
              <a:tblPr firstRow="1" bandRow="1">
                <a:tableStyleId>{5C22544A-7EE6-4342-B048-85BDC9FD1C3A}</a:tableStyleId>
              </a:tblPr>
              <a:tblGrid>
                <a:gridCol w="1684427">
                  <a:extLst>
                    <a:ext uri="{9D8B030D-6E8A-4147-A177-3AD203B41FA5}">
                      <a16:colId xmlns:a16="http://schemas.microsoft.com/office/drawing/2014/main" val="819738036"/>
                    </a:ext>
                  </a:extLst>
                </a:gridCol>
                <a:gridCol w="1652336">
                  <a:extLst>
                    <a:ext uri="{9D8B030D-6E8A-4147-A177-3AD203B41FA5}">
                      <a16:colId xmlns:a16="http://schemas.microsoft.com/office/drawing/2014/main" val="3075308515"/>
                    </a:ext>
                  </a:extLst>
                </a:gridCol>
              </a:tblGrid>
              <a:tr h="370840">
                <a:tc>
                  <a:txBody>
                    <a:bodyPr/>
                    <a:lstStyle/>
                    <a:p>
                      <a:r>
                        <a:rPr lang="en-IN" sz="1200" dirty="0"/>
                        <a:t>Likelihood </a:t>
                      </a:r>
                    </a:p>
                  </a:txBody>
                  <a:tcPr/>
                </a:tc>
                <a:tc>
                  <a:txBody>
                    <a:bodyPr/>
                    <a:lstStyle/>
                    <a:p>
                      <a:r>
                        <a:rPr lang="en-IN" sz="1200" dirty="0"/>
                        <a:t>Occurrence</a:t>
                      </a:r>
                    </a:p>
                  </a:txBody>
                  <a:tcPr/>
                </a:tc>
                <a:extLst>
                  <a:ext uri="{0D108BD9-81ED-4DB2-BD59-A6C34878D82A}">
                    <a16:rowId xmlns:a16="http://schemas.microsoft.com/office/drawing/2014/main" val="2675527482"/>
                  </a:ext>
                </a:extLst>
              </a:tr>
              <a:tr h="370840">
                <a:tc>
                  <a:txBody>
                    <a:bodyPr/>
                    <a:lstStyle/>
                    <a:p>
                      <a:r>
                        <a:rPr lang="en-IN" sz="1200" dirty="0"/>
                        <a:t>(1) Rare</a:t>
                      </a:r>
                    </a:p>
                  </a:txBody>
                  <a:tcPr/>
                </a:tc>
                <a:tc>
                  <a:txBody>
                    <a:bodyPr/>
                    <a:lstStyle/>
                    <a:p>
                      <a:r>
                        <a:rPr lang="en-IN" sz="1200" dirty="0"/>
                        <a:t>Once in 10+ years</a:t>
                      </a:r>
                    </a:p>
                  </a:txBody>
                  <a:tcPr/>
                </a:tc>
                <a:extLst>
                  <a:ext uri="{0D108BD9-81ED-4DB2-BD59-A6C34878D82A}">
                    <a16:rowId xmlns:a16="http://schemas.microsoft.com/office/drawing/2014/main" val="1674712281"/>
                  </a:ext>
                </a:extLst>
              </a:tr>
              <a:tr h="370840">
                <a:tc>
                  <a:txBody>
                    <a:bodyPr/>
                    <a:lstStyle/>
                    <a:p>
                      <a:r>
                        <a:rPr lang="en-IN" sz="1200" dirty="0"/>
                        <a:t>(2) Unlikely</a:t>
                      </a:r>
                    </a:p>
                  </a:txBody>
                  <a:tcPr/>
                </a:tc>
                <a:tc>
                  <a:txBody>
                    <a:bodyPr/>
                    <a:lstStyle/>
                    <a:p>
                      <a:r>
                        <a:rPr lang="en-IN" sz="1200" dirty="0"/>
                        <a:t>Once in 5-10 years</a:t>
                      </a:r>
                    </a:p>
                  </a:txBody>
                  <a:tcPr/>
                </a:tc>
                <a:extLst>
                  <a:ext uri="{0D108BD9-81ED-4DB2-BD59-A6C34878D82A}">
                    <a16:rowId xmlns:a16="http://schemas.microsoft.com/office/drawing/2014/main" val="789065649"/>
                  </a:ext>
                </a:extLst>
              </a:tr>
              <a:tr h="370840">
                <a:tc>
                  <a:txBody>
                    <a:bodyPr/>
                    <a:lstStyle/>
                    <a:p>
                      <a:r>
                        <a:rPr lang="en-IN" sz="1200" dirty="0"/>
                        <a:t>(3) Possible</a:t>
                      </a:r>
                    </a:p>
                  </a:txBody>
                  <a:tcPr/>
                </a:tc>
                <a:tc>
                  <a:txBody>
                    <a:bodyPr/>
                    <a:lstStyle/>
                    <a:p>
                      <a:r>
                        <a:rPr lang="en-IN" sz="1200" dirty="0"/>
                        <a:t>Once in 2-5 years</a:t>
                      </a:r>
                    </a:p>
                  </a:txBody>
                  <a:tcPr/>
                </a:tc>
                <a:extLst>
                  <a:ext uri="{0D108BD9-81ED-4DB2-BD59-A6C34878D82A}">
                    <a16:rowId xmlns:a16="http://schemas.microsoft.com/office/drawing/2014/main" val="1236861043"/>
                  </a:ext>
                </a:extLst>
              </a:tr>
              <a:tr h="370840">
                <a:tc>
                  <a:txBody>
                    <a:bodyPr/>
                    <a:lstStyle/>
                    <a:p>
                      <a:r>
                        <a:rPr lang="en-IN" sz="1200" dirty="0"/>
                        <a:t>(4) Likely</a:t>
                      </a:r>
                    </a:p>
                  </a:txBody>
                  <a:tcPr/>
                </a:tc>
                <a:tc>
                  <a:txBody>
                    <a:bodyPr/>
                    <a:lstStyle/>
                    <a:p>
                      <a:r>
                        <a:rPr lang="en-IN" sz="1200" dirty="0"/>
                        <a:t>Annually</a:t>
                      </a:r>
                    </a:p>
                  </a:txBody>
                  <a:tcPr/>
                </a:tc>
                <a:extLst>
                  <a:ext uri="{0D108BD9-81ED-4DB2-BD59-A6C34878D82A}">
                    <a16:rowId xmlns:a16="http://schemas.microsoft.com/office/drawing/2014/main" val="3569167354"/>
                  </a:ext>
                </a:extLst>
              </a:tr>
              <a:tr h="370840">
                <a:tc>
                  <a:txBody>
                    <a:bodyPr/>
                    <a:lstStyle/>
                    <a:p>
                      <a:r>
                        <a:rPr lang="en-IN" sz="1200" dirty="0"/>
                        <a:t>(5) Certain</a:t>
                      </a:r>
                    </a:p>
                  </a:txBody>
                  <a:tcPr/>
                </a:tc>
                <a:tc>
                  <a:txBody>
                    <a:bodyPr/>
                    <a:lstStyle/>
                    <a:p>
                      <a:r>
                        <a:rPr lang="en-IN" sz="1200" dirty="0"/>
                        <a:t>Multiple times a year</a:t>
                      </a:r>
                    </a:p>
                  </a:txBody>
                  <a:tcPr/>
                </a:tc>
                <a:extLst>
                  <a:ext uri="{0D108BD9-81ED-4DB2-BD59-A6C34878D82A}">
                    <a16:rowId xmlns:a16="http://schemas.microsoft.com/office/drawing/2014/main" val="2902301907"/>
                  </a:ext>
                </a:extLst>
              </a:tr>
            </a:tbl>
          </a:graphicData>
        </a:graphic>
      </p:graphicFrame>
      <p:sp>
        <p:nvSpPr>
          <p:cNvPr id="11" name="TextBox 10">
            <a:extLst>
              <a:ext uri="{FF2B5EF4-FFF2-40B4-BE49-F238E27FC236}">
                <a16:creationId xmlns:a16="http://schemas.microsoft.com/office/drawing/2014/main" id="{311FA3F2-538B-DBCA-6102-0D93A231FA47}"/>
              </a:ext>
            </a:extLst>
          </p:cNvPr>
          <p:cNvSpPr txBox="1"/>
          <p:nvPr/>
        </p:nvSpPr>
        <p:spPr>
          <a:xfrm>
            <a:off x="240625" y="2609123"/>
            <a:ext cx="3190729" cy="276999"/>
          </a:xfrm>
          <a:prstGeom prst="rect">
            <a:avLst/>
          </a:prstGeom>
          <a:noFill/>
        </p:spPr>
        <p:txBody>
          <a:bodyPr wrap="square" rtlCol="0">
            <a:spAutoFit/>
          </a:bodyPr>
          <a:lstStyle/>
          <a:p>
            <a:r>
              <a:rPr lang="en-IN" sz="1200" u="sng" dirty="0"/>
              <a:t>Frequency scale based on likelihood </a:t>
            </a:r>
          </a:p>
        </p:txBody>
      </p:sp>
      <p:graphicFrame>
        <p:nvGraphicFramePr>
          <p:cNvPr id="13" name="Table 12">
            <a:extLst>
              <a:ext uri="{FF2B5EF4-FFF2-40B4-BE49-F238E27FC236}">
                <a16:creationId xmlns:a16="http://schemas.microsoft.com/office/drawing/2014/main" id="{C7FD26DA-B083-5513-0C69-E9CBF600DE07}"/>
              </a:ext>
            </a:extLst>
          </p:cNvPr>
          <p:cNvGraphicFramePr>
            <a:graphicFrameLocks noGrp="1"/>
          </p:cNvGraphicFramePr>
          <p:nvPr>
            <p:extLst>
              <p:ext uri="{D42A27DB-BD31-4B8C-83A1-F6EECF244321}">
                <p14:modId xmlns:p14="http://schemas.microsoft.com/office/powerpoint/2010/main" val="2095384132"/>
              </p:ext>
            </p:extLst>
          </p:nvPr>
        </p:nvGraphicFramePr>
        <p:xfrm>
          <a:off x="5269585" y="577511"/>
          <a:ext cx="6922415" cy="1444821"/>
        </p:xfrm>
        <a:graphic>
          <a:graphicData uri="http://schemas.openxmlformats.org/drawingml/2006/table">
            <a:tbl>
              <a:tblPr firstRow="1" bandRow="1">
                <a:tableStyleId>{5C22544A-7EE6-4342-B048-85BDC9FD1C3A}</a:tableStyleId>
              </a:tblPr>
              <a:tblGrid>
                <a:gridCol w="2623131">
                  <a:extLst>
                    <a:ext uri="{9D8B030D-6E8A-4147-A177-3AD203B41FA5}">
                      <a16:colId xmlns:a16="http://schemas.microsoft.com/office/drawing/2014/main" val="3413908903"/>
                    </a:ext>
                  </a:extLst>
                </a:gridCol>
                <a:gridCol w="1138989">
                  <a:extLst>
                    <a:ext uri="{9D8B030D-6E8A-4147-A177-3AD203B41FA5}">
                      <a16:colId xmlns:a16="http://schemas.microsoft.com/office/drawing/2014/main" val="225158254"/>
                    </a:ext>
                  </a:extLst>
                </a:gridCol>
                <a:gridCol w="1331495">
                  <a:extLst>
                    <a:ext uri="{9D8B030D-6E8A-4147-A177-3AD203B41FA5}">
                      <a16:colId xmlns:a16="http://schemas.microsoft.com/office/drawing/2014/main" val="545947849"/>
                    </a:ext>
                  </a:extLst>
                </a:gridCol>
                <a:gridCol w="1828800">
                  <a:extLst>
                    <a:ext uri="{9D8B030D-6E8A-4147-A177-3AD203B41FA5}">
                      <a16:colId xmlns:a16="http://schemas.microsoft.com/office/drawing/2014/main" val="1555191760"/>
                    </a:ext>
                  </a:extLst>
                </a:gridCol>
              </a:tblGrid>
              <a:tr h="370840">
                <a:tc>
                  <a:txBody>
                    <a:bodyPr/>
                    <a:lstStyle/>
                    <a:p>
                      <a:r>
                        <a:rPr lang="en-IN" sz="1200" dirty="0"/>
                        <a:t>Risk event</a:t>
                      </a:r>
                    </a:p>
                  </a:txBody>
                  <a:tcPr/>
                </a:tc>
                <a:tc>
                  <a:txBody>
                    <a:bodyPr/>
                    <a:lstStyle/>
                    <a:p>
                      <a:r>
                        <a:rPr lang="en-IN" sz="1200" dirty="0"/>
                        <a:t>Severity</a:t>
                      </a:r>
                    </a:p>
                  </a:txBody>
                  <a:tcPr/>
                </a:tc>
                <a:tc>
                  <a:txBody>
                    <a:bodyPr/>
                    <a:lstStyle/>
                    <a:p>
                      <a:r>
                        <a:rPr lang="en-IN" sz="1200" dirty="0"/>
                        <a:t>Frequency</a:t>
                      </a:r>
                    </a:p>
                  </a:txBody>
                  <a:tcPr/>
                </a:tc>
                <a:tc>
                  <a:txBody>
                    <a:bodyPr/>
                    <a:lstStyle/>
                    <a:p>
                      <a:r>
                        <a:rPr lang="en-IN" sz="1200" dirty="0"/>
                        <a:t>Risk rating (Severity*Frequency)</a:t>
                      </a:r>
                    </a:p>
                  </a:txBody>
                  <a:tcPr/>
                </a:tc>
                <a:extLst>
                  <a:ext uri="{0D108BD9-81ED-4DB2-BD59-A6C34878D82A}">
                    <a16:rowId xmlns:a16="http://schemas.microsoft.com/office/drawing/2014/main" val="3701623054"/>
                  </a:ext>
                </a:extLst>
              </a:tr>
              <a:tr h="5304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ATP Cybersecurity attack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Critical (4)</a:t>
                      </a:r>
                    </a:p>
                  </a:txBody>
                  <a:tcPr/>
                </a:tc>
                <a:tc>
                  <a:txBody>
                    <a:bodyPr/>
                    <a:lstStyle/>
                    <a:p>
                      <a:r>
                        <a:rPr lang="en-IN" sz="1200" dirty="0"/>
                        <a:t>Possible (3)</a:t>
                      </a:r>
                    </a:p>
                  </a:txBody>
                  <a:tcPr/>
                </a:tc>
                <a:tc>
                  <a:txBody>
                    <a:bodyPr/>
                    <a:lstStyle/>
                    <a:p>
                      <a:r>
                        <a:rPr lang="en-IN" sz="1200" dirty="0"/>
                        <a:t>12 (High risk)</a:t>
                      </a:r>
                    </a:p>
                  </a:txBody>
                  <a:tcPr/>
                </a:tc>
                <a:extLst>
                  <a:ext uri="{0D108BD9-81ED-4DB2-BD59-A6C34878D82A}">
                    <a16:rowId xmlns:a16="http://schemas.microsoft.com/office/drawing/2014/main" val="265387959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Regulatory compliance in China and India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High (3)</a:t>
                      </a:r>
                    </a:p>
                    <a:p>
                      <a:endParaRPr lang="en-IN" sz="1200" dirty="0"/>
                    </a:p>
                  </a:txBody>
                  <a:tcPr/>
                </a:tc>
                <a:tc>
                  <a:txBody>
                    <a:bodyPr/>
                    <a:lstStyle/>
                    <a:p>
                      <a:r>
                        <a:rPr lang="en-IN" sz="1200" dirty="0"/>
                        <a:t>Possible (3)</a:t>
                      </a:r>
                    </a:p>
                  </a:txBody>
                  <a:tcPr/>
                </a:tc>
                <a:tc>
                  <a:txBody>
                    <a:bodyPr/>
                    <a:lstStyle/>
                    <a:p>
                      <a:r>
                        <a:rPr lang="en-IN" sz="1200" dirty="0"/>
                        <a:t>9 (Moderate-high risk)</a:t>
                      </a:r>
                    </a:p>
                  </a:txBody>
                  <a:tcPr/>
                </a:tc>
                <a:extLst>
                  <a:ext uri="{0D108BD9-81ED-4DB2-BD59-A6C34878D82A}">
                    <a16:rowId xmlns:a16="http://schemas.microsoft.com/office/drawing/2014/main" val="4175706118"/>
                  </a:ext>
                </a:extLst>
              </a:tr>
            </a:tbl>
          </a:graphicData>
        </a:graphic>
      </p:graphicFrame>
      <p:sp>
        <p:nvSpPr>
          <p:cNvPr id="14" name="TextBox 13">
            <a:extLst>
              <a:ext uri="{FF2B5EF4-FFF2-40B4-BE49-F238E27FC236}">
                <a16:creationId xmlns:a16="http://schemas.microsoft.com/office/drawing/2014/main" id="{7C309A2D-E322-8FDF-65D6-64B2E0E35975}"/>
              </a:ext>
            </a:extLst>
          </p:cNvPr>
          <p:cNvSpPr txBox="1"/>
          <p:nvPr/>
        </p:nvSpPr>
        <p:spPr>
          <a:xfrm>
            <a:off x="5269585" y="305276"/>
            <a:ext cx="2529858" cy="276999"/>
          </a:xfrm>
          <a:prstGeom prst="rect">
            <a:avLst/>
          </a:prstGeom>
          <a:noFill/>
        </p:spPr>
        <p:txBody>
          <a:bodyPr wrap="square" rtlCol="0">
            <a:spAutoFit/>
          </a:bodyPr>
          <a:lstStyle/>
          <a:p>
            <a:r>
              <a:rPr lang="en-IN" sz="1200" u="sng" dirty="0"/>
              <a:t>Inherent risk rating (IRR)</a:t>
            </a:r>
          </a:p>
        </p:txBody>
      </p:sp>
      <p:graphicFrame>
        <p:nvGraphicFramePr>
          <p:cNvPr id="17" name="Table 16">
            <a:extLst>
              <a:ext uri="{FF2B5EF4-FFF2-40B4-BE49-F238E27FC236}">
                <a16:creationId xmlns:a16="http://schemas.microsoft.com/office/drawing/2014/main" id="{5C48AAEC-3B58-9B61-E5FA-E12157C6459B}"/>
              </a:ext>
            </a:extLst>
          </p:cNvPr>
          <p:cNvGraphicFramePr>
            <a:graphicFrameLocks noGrp="1"/>
          </p:cNvGraphicFramePr>
          <p:nvPr>
            <p:extLst>
              <p:ext uri="{D42A27DB-BD31-4B8C-83A1-F6EECF244321}">
                <p14:modId xmlns:p14="http://schemas.microsoft.com/office/powerpoint/2010/main" val="4053152737"/>
              </p:ext>
            </p:extLst>
          </p:nvPr>
        </p:nvGraphicFramePr>
        <p:xfrm>
          <a:off x="5268184" y="2658287"/>
          <a:ext cx="6984928" cy="1444821"/>
        </p:xfrm>
        <a:graphic>
          <a:graphicData uri="http://schemas.openxmlformats.org/drawingml/2006/table">
            <a:tbl>
              <a:tblPr firstRow="1" bandRow="1">
                <a:tableStyleId>{5C22544A-7EE6-4342-B048-85BDC9FD1C3A}</a:tableStyleId>
              </a:tblPr>
              <a:tblGrid>
                <a:gridCol w="2701686">
                  <a:extLst>
                    <a:ext uri="{9D8B030D-6E8A-4147-A177-3AD203B41FA5}">
                      <a16:colId xmlns:a16="http://schemas.microsoft.com/office/drawing/2014/main" val="3413908903"/>
                    </a:ext>
                  </a:extLst>
                </a:gridCol>
                <a:gridCol w="1122947">
                  <a:extLst>
                    <a:ext uri="{9D8B030D-6E8A-4147-A177-3AD203B41FA5}">
                      <a16:colId xmlns:a16="http://schemas.microsoft.com/office/drawing/2014/main" val="225158254"/>
                    </a:ext>
                  </a:extLst>
                </a:gridCol>
                <a:gridCol w="1363579">
                  <a:extLst>
                    <a:ext uri="{9D8B030D-6E8A-4147-A177-3AD203B41FA5}">
                      <a16:colId xmlns:a16="http://schemas.microsoft.com/office/drawing/2014/main" val="545947849"/>
                    </a:ext>
                  </a:extLst>
                </a:gridCol>
                <a:gridCol w="1796716">
                  <a:extLst>
                    <a:ext uri="{9D8B030D-6E8A-4147-A177-3AD203B41FA5}">
                      <a16:colId xmlns:a16="http://schemas.microsoft.com/office/drawing/2014/main" val="1555191760"/>
                    </a:ext>
                  </a:extLst>
                </a:gridCol>
              </a:tblGrid>
              <a:tr h="370840">
                <a:tc>
                  <a:txBody>
                    <a:bodyPr/>
                    <a:lstStyle/>
                    <a:p>
                      <a:r>
                        <a:rPr lang="en-IN" sz="1200" dirty="0"/>
                        <a:t>Risk event</a:t>
                      </a:r>
                    </a:p>
                  </a:txBody>
                  <a:tcPr/>
                </a:tc>
                <a:tc>
                  <a:txBody>
                    <a:bodyPr/>
                    <a:lstStyle/>
                    <a:p>
                      <a:r>
                        <a:rPr lang="en-IN" sz="1200" dirty="0"/>
                        <a:t>Severity</a:t>
                      </a:r>
                    </a:p>
                  </a:txBody>
                  <a:tcPr/>
                </a:tc>
                <a:tc>
                  <a:txBody>
                    <a:bodyPr/>
                    <a:lstStyle/>
                    <a:p>
                      <a:r>
                        <a:rPr lang="en-IN" sz="1200" dirty="0"/>
                        <a:t>Frequency</a:t>
                      </a:r>
                    </a:p>
                  </a:txBody>
                  <a:tcPr/>
                </a:tc>
                <a:tc>
                  <a:txBody>
                    <a:bodyPr/>
                    <a:lstStyle/>
                    <a:p>
                      <a:r>
                        <a:rPr lang="en-IN" sz="1200" dirty="0"/>
                        <a:t>Risk rating (Severity*Frequency)</a:t>
                      </a:r>
                    </a:p>
                  </a:txBody>
                  <a:tcPr/>
                </a:tc>
                <a:extLst>
                  <a:ext uri="{0D108BD9-81ED-4DB2-BD59-A6C34878D82A}">
                    <a16:rowId xmlns:a16="http://schemas.microsoft.com/office/drawing/2014/main" val="3701623054"/>
                  </a:ext>
                </a:extLst>
              </a:tr>
              <a:tr h="5304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ATP Cybersecurity attack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High (3)</a:t>
                      </a:r>
                    </a:p>
                  </a:txBody>
                  <a:tcPr/>
                </a:tc>
                <a:tc>
                  <a:txBody>
                    <a:bodyPr/>
                    <a:lstStyle/>
                    <a:p>
                      <a:r>
                        <a:rPr lang="en-IN" sz="1200" dirty="0"/>
                        <a:t>Unlikely (2)</a:t>
                      </a:r>
                    </a:p>
                  </a:txBody>
                  <a:tcPr/>
                </a:tc>
                <a:tc>
                  <a:txBody>
                    <a:bodyPr/>
                    <a:lstStyle/>
                    <a:p>
                      <a:r>
                        <a:rPr lang="en-IN" sz="1200" dirty="0"/>
                        <a:t>6 (Moderate risk)</a:t>
                      </a:r>
                    </a:p>
                  </a:txBody>
                  <a:tcPr/>
                </a:tc>
                <a:extLst>
                  <a:ext uri="{0D108BD9-81ED-4DB2-BD59-A6C34878D82A}">
                    <a16:rowId xmlns:a16="http://schemas.microsoft.com/office/drawing/2014/main" val="265387959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Regulatory compliance in China and India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Medium (2)</a:t>
                      </a:r>
                    </a:p>
                    <a:p>
                      <a:endParaRPr lang="en-IN" sz="1200" dirty="0"/>
                    </a:p>
                  </a:txBody>
                  <a:tcPr/>
                </a:tc>
                <a:tc>
                  <a:txBody>
                    <a:bodyPr/>
                    <a:lstStyle/>
                    <a:p>
                      <a:r>
                        <a:rPr lang="en-IN" sz="1200" dirty="0"/>
                        <a:t>Unlikely (2)</a:t>
                      </a:r>
                    </a:p>
                  </a:txBody>
                  <a:tcPr/>
                </a:tc>
                <a:tc>
                  <a:txBody>
                    <a:bodyPr/>
                    <a:lstStyle/>
                    <a:p>
                      <a:r>
                        <a:rPr lang="en-IN" sz="1200" dirty="0"/>
                        <a:t>4 (Medium risk)</a:t>
                      </a:r>
                    </a:p>
                  </a:txBody>
                  <a:tcPr/>
                </a:tc>
                <a:extLst>
                  <a:ext uri="{0D108BD9-81ED-4DB2-BD59-A6C34878D82A}">
                    <a16:rowId xmlns:a16="http://schemas.microsoft.com/office/drawing/2014/main" val="4175706118"/>
                  </a:ext>
                </a:extLst>
              </a:tr>
            </a:tbl>
          </a:graphicData>
        </a:graphic>
      </p:graphicFrame>
      <p:sp>
        <p:nvSpPr>
          <p:cNvPr id="18" name="TextBox 17">
            <a:extLst>
              <a:ext uri="{FF2B5EF4-FFF2-40B4-BE49-F238E27FC236}">
                <a16:creationId xmlns:a16="http://schemas.microsoft.com/office/drawing/2014/main" id="{E822B11B-4D1B-1B2F-AB6D-E10BF0F003E3}"/>
              </a:ext>
            </a:extLst>
          </p:cNvPr>
          <p:cNvSpPr txBox="1"/>
          <p:nvPr/>
        </p:nvSpPr>
        <p:spPr>
          <a:xfrm>
            <a:off x="5268184" y="2381288"/>
            <a:ext cx="2642980" cy="276999"/>
          </a:xfrm>
          <a:prstGeom prst="rect">
            <a:avLst/>
          </a:prstGeom>
          <a:noFill/>
        </p:spPr>
        <p:txBody>
          <a:bodyPr wrap="square" rtlCol="0">
            <a:spAutoFit/>
          </a:bodyPr>
          <a:lstStyle/>
          <a:p>
            <a:r>
              <a:rPr lang="en-IN" sz="1200" u="sng" dirty="0"/>
              <a:t>Residual risk rating (RR)</a:t>
            </a:r>
          </a:p>
        </p:txBody>
      </p:sp>
      <p:sp>
        <p:nvSpPr>
          <p:cNvPr id="35" name="TextBox 34">
            <a:extLst>
              <a:ext uri="{FF2B5EF4-FFF2-40B4-BE49-F238E27FC236}">
                <a16:creationId xmlns:a16="http://schemas.microsoft.com/office/drawing/2014/main" id="{C2CBCFCE-3E3E-158B-1027-FD5E760C6518}"/>
              </a:ext>
            </a:extLst>
          </p:cNvPr>
          <p:cNvSpPr txBox="1"/>
          <p:nvPr/>
        </p:nvSpPr>
        <p:spPr>
          <a:xfrm>
            <a:off x="240626" y="132630"/>
            <a:ext cx="2037353" cy="276999"/>
          </a:xfrm>
          <a:prstGeom prst="rect">
            <a:avLst/>
          </a:prstGeom>
          <a:noFill/>
        </p:spPr>
        <p:txBody>
          <a:bodyPr wrap="square" rtlCol="0">
            <a:spAutoFit/>
          </a:bodyPr>
          <a:lstStyle/>
          <a:p>
            <a:r>
              <a:rPr lang="en-IN" sz="1200" dirty="0"/>
              <a:t>Annexure 1 (a)</a:t>
            </a:r>
          </a:p>
        </p:txBody>
      </p:sp>
      <p:sp>
        <p:nvSpPr>
          <p:cNvPr id="36" name="TextBox 35">
            <a:extLst>
              <a:ext uri="{FF2B5EF4-FFF2-40B4-BE49-F238E27FC236}">
                <a16:creationId xmlns:a16="http://schemas.microsoft.com/office/drawing/2014/main" id="{9752BCD3-5000-83E6-3F5F-C6BABBF7F355}"/>
              </a:ext>
            </a:extLst>
          </p:cNvPr>
          <p:cNvSpPr txBox="1"/>
          <p:nvPr/>
        </p:nvSpPr>
        <p:spPr>
          <a:xfrm>
            <a:off x="240626" y="2450443"/>
            <a:ext cx="2037353" cy="276999"/>
          </a:xfrm>
          <a:prstGeom prst="rect">
            <a:avLst/>
          </a:prstGeom>
          <a:noFill/>
        </p:spPr>
        <p:txBody>
          <a:bodyPr wrap="square" rtlCol="0">
            <a:spAutoFit/>
          </a:bodyPr>
          <a:lstStyle/>
          <a:p>
            <a:r>
              <a:rPr lang="en-IN" sz="1200" dirty="0"/>
              <a:t>Annexure 1 (b)</a:t>
            </a:r>
          </a:p>
        </p:txBody>
      </p:sp>
      <p:sp>
        <p:nvSpPr>
          <p:cNvPr id="37" name="TextBox 36">
            <a:extLst>
              <a:ext uri="{FF2B5EF4-FFF2-40B4-BE49-F238E27FC236}">
                <a16:creationId xmlns:a16="http://schemas.microsoft.com/office/drawing/2014/main" id="{50ACFE46-A95A-4F73-9D2F-7E8C511BC4C5}"/>
              </a:ext>
            </a:extLst>
          </p:cNvPr>
          <p:cNvSpPr txBox="1"/>
          <p:nvPr/>
        </p:nvSpPr>
        <p:spPr>
          <a:xfrm>
            <a:off x="5269585" y="122060"/>
            <a:ext cx="2037353" cy="276999"/>
          </a:xfrm>
          <a:prstGeom prst="rect">
            <a:avLst/>
          </a:prstGeom>
          <a:noFill/>
        </p:spPr>
        <p:txBody>
          <a:bodyPr wrap="square" rtlCol="0">
            <a:spAutoFit/>
          </a:bodyPr>
          <a:lstStyle/>
          <a:p>
            <a:r>
              <a:rPr lang="en-IN" sz="1200" dirty="0"/>
              <a:t>Annexure 2 (a)</a:t>
            </a:r>
          </a:p>
        </p:txBody>
      </p:sp>
      <p:sp>
        <p:nvSpPr>
          <p:cNvPr id="38" name="TextBox 37">
            <a:extLst>
              <a:ext uri="{FF2B5EF4-FFF2-40B4-BE49-F238E27FC236}">
                <a16:creationId xmlns:a16="http://schemas.microsoft.com/office/drawing/2014/main" id="{881D0030-363B-E86B-A719-11F2038AD6CA}"/>
              </a:ext>
            </a:extLst>
          </p:cNvPr>
          <p:cNvSpPr txBox="1"/>
          <p:nvPr/>
        </p:nvSpPr>
        <p:spPr>
          <a:xfrm>
            <a:off x="5268184" y="2242789"/>
            <a:ext cx="2037353" cy="276999"/>
          </a:xfrm>
          <a:prstGeom prst="rect">
            <a:avLst/>
          </a:prstGeom>
          <a:noFill/>
        </p:spPr>
        <p:txBody>
          <a:bodyPr wrap="square" rtlCol="0">
            <a:spAutoFit/>
          </a:bodyPr>
          <a:lstStyle/>
          <a:p>
            <a:r>
              <a:rPr lang="en-IN" sz="1200" dirty="0"/>
              <a:t>Annexure 2 (b)</a:t>
            </a:r>
          </a:p>
        </p:txBody>
      </p:sp>
      <p:graphicFrame>
        <p:nvGraphicFramePr>
          <p:cNvPr id="39" name="Table 38">
            <a:extLst>
              <a:ext uri="{FF2B5EF4-FFF2-40B4-BE49-F238E27FC236}">
                <a16:creationId xmlns:a16="http://schemas.microsoft.com/office/drawing/2014/main" id="{0EE29959-CA75-989D-3D79-C7E373725263}"/>
              </a:ext>
            </a:extLst>
          </p:cNvPr>
          <p:cNvGraphicFramePr>
            <a:graphicFrameLocks noGrp="1"/>
          </p:cNvGraphicFramePr>
          <p:nvPr>
            <p:extLst>
              <p:ext uri="{D42A27DB-BD31-4B8C-83A1-F6EECF244321}">
                <p14:modId xmlns:p14="http://schemas.microsoft.com/office/powerpoint/2010/main" val="742425110"/>
              </p:ext>
            </p:extLst>
          </p:nvPr>
        </p:nvGraphicFramePr>
        <p:xfrm>
          <a:off x="6096000" y="4887821"/>
          <a:ext cx="3742503" cy="1483360"/>
        </p:xfrm>
        <a:graphic>
          <a:graphicData uri="http://schemas.openxmlformats.org/drawingml/2006/table">
            <a:tbl>
              <a:tblPr lastRow="1" bandRow="1" bandCol="1">
                <a:tableStyleId>{2D5ABB26-0587-4C30-8999-92F81FD0307C}</a:tableStyleId>
              </a:tblPr>
              <a:tblGrid>
                <a:gridCol w="795841">
                  <a:extLst>
                    <a:ext uri="{9D8B030D-6E8A-4147-A177-3AD203B41FA5}">
                      <a16:colId xmlns:a16="http://schemas.microsoft.com/office/drawing/2014/main" val="316579571"/>
                    </a:ext>
                  </a:extLst>
                </a:gridCol>
                <a:gridCol w="744717">
                  <a:extLst>
                    <a:ext uri="{9D8B030D-6E8A-4147-A177-3AD203B41FA5}">
                      <a16:colId xmlns:a16="http://schemas.microsoft.com/office/drawing/2014/main" val="4108689071"/>
                    </a:ext>
                  </a:extLst>
                </a:gridCol>
                <a:gridCol w="810706">
                  <a:extLst>
                    <a:ext uri="{9D8B030D-6E8A-4147-A177-3AD203B41FA5}">
                      <a16:colId xmlns:a16="http://schemas.microsoft.com/office/drawing/2014/main" val="4107193714"/>
                    </a:ext>
                  </a:extLst>
                </a:gridCol>
                <a:gridCol w="735290">
                  <a:extLst>
                    <a:ext uri="{9D8B030D-6E8A-4147-A177-3AD203B41FA5}">
                      <a16:colId xmlns:a16="http://schemas.microsoft.com/office/drawing/2014/main" val="748190981"/>
                    </a:ext>
                  </a:extLst>
                </a:gridCol>
                <a:gridCol w="655949">
                  <a:extLst>
                    <a:ext uri="{9D8B030D-6E8A-4147-A177-3AD203B41FA5}">
                      <a16:colId xmlns:a16="http://schemas.microsoft.com/office/drawing/2014/main" val="1445021170"/>
                    </a:ext>
                  </a:extLst>
                </a:gridCol>
              </a:tblGrid>
              <a:tr h="370840">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IN" sz="1200" dirty="0">
                          <a:solidFill>
                            <a:schemeClr val="tx1"/>
                          </a:solidFill>
                        </a:rPr>
                        <a:t>RC (RR)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08715113"/>
                  </a:ext>
                </a:extLst>
              </a:tr>
              <a:tr h="370840">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2136427250"/>
                  </a:ext>
                </a:extLst>
              </a:tr>
              <a:tr h="370840">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200" dirty="0">
                          <a:solidFill>
                            <a:schemeClr val="tx1"/>
                          </a:solidFill>
                        </a:rPr>
                        <a:t>CS (RR)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IN" sz="1200" dirty="0">
                          <a:solidFill>
                            <a:schemeClr val="tx1"/>
                          </a:solidFill>
                        </a:rPr>
                        <a:t>RC (IRR)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IN" sz="1200" dirty="0">
                          <a:solidFill>
                            <a:schemeClr val="tx1"/>
                          </a:solidFill>
                        </a:rPr>
                        <a:t>CS (IRR)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6600"/>
                    </a:solidFill>
                  </a:tcPr>
                </a:tc>
                <a:extLst>
                  <a:ext uri="{0D108BD9-81ED-4DB2-BD59-A6C34878D82A}">
                    <a16:rowId xmlns:a16="http://schemas.microsoft.com/office/drawing/2014/main" val="289291278"/>
                  </a:ext>
                </a:extLst>
              </a:tr>
              <a:tr h="370840">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5050"/>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631844053"/>
                  </a:ext>
                </a:extLst>
              </a:tr>
            </a:tbl>
          </a:graphicData>
        </a:graphic>
      </p:graphicFrame>
      <p:cxnSp>
        <p:nvCxnSpPr>
          <p:cNvPr id="40" name="Straight Arrow Connector 39">
            <a:extLst>
              <a:ext uri="{FF2B5EF4-FFF2-40B4-BE49-F238E27FC236}">
                <a16:creationId xmlns:a16="http://schemas.microsoft.com/office/drawing/2014/main" id="{BE18A491-9EF5-8E70-1708-D8AC04FBC2CE}"/>
              </a:ext>
            </a:extLst>
          </p:cNvPr>
          <p:cNvCxnSpPr>
            <a:cxnSpLocks/>
          </p:cNvCxnSpPr>
          <p:nvPr/>
        </p:nvCxnSpPr>
        <p:spPr>
          <a:xfrm flipV="1">
            <a:off x="8738980" y="5152659"/>
            <a:ext cx="0" cy="26395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B50890E-9A98-8BF6-8AC3-33BFE71F6DAE}"/>
              </a:ext>
            </a:extLst>
          </p:cNvPr>
          <p:cNvCxnSpPr>
            <a:cxnSpLocks/>
          </p:cNvCxnSpPr>
          <p:nvPr/>
        </p:nvCxnSpPr>
        <p:spPr>
          <a:xfrm flipV="1">
            <a:off x="7269970" y="5898948"/>
            <a:ext cx="0" cy="26395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4F22E16-6E24-9C22-2FFF-34FE1B7407E6}"/>
              </a:ext>
            </a:extLst>
          </p:cNvPr>
          <p:cNvCxnSpPr/>
          <p:nvPr/>
        </p:nvCxnSpPr>
        <p:spPr>
          <a:xfrm flipH="1">
            <a:off x="7965983" y="5416609"/>
            <a:ext cx="77299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FC6CCE7-185B-0F49-49BC-6EAD40CE1E3E}"/>
              </a:ext>
            </a:extLst>
          </p:cNvPr>
          <p:cNvCxnSpPr/>
          <p:nvPr/>
        </p:nvCxnSpPr>
        <p:spPr>
          <a:xfrm>
            <a:off x="7269970" y="6162898"/>
            <a:ext cx="158213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B8A9AD4-43D1-AF27-4EA6-D6C40F5227D2}"/>
              </a:ext>
            </a:extLst>
          </p:cNvPr>
          <p:cNvCxnSpPr>
            <a:cxnSpLocks/>
          </p:cNvCxnSpPr>
          <p:nvPr/>
        </p:nvCxnSpPr>
        <p:spPr>
          <a:xfrm>
            <a:off x="7965983" y="5416609"/>
            <a:ext cx="0" cy="28289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AD28A2C-FBC3-C071-2F35-E2CD73CAD567}"/>
              </a:ext>
            </a:extLst>
          </p:cNvPr>
          <p:cNvCxnSpPr/>
          <p:nvPr/>
        </p:nvCxnSpPr>
        <p:spPr>
          <a:xfrm flipV="1">
            <a:off x="8852103" y="5898948"/>
            <a:ext cx="0" cy="26395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598F346E-EB3F-9567-842F-F65FF59F7074}"/>
              </a:ext>
            </a:extLst>
          </p:cNvPr>
          <p:cNvSpPr txBox="1"/>
          <p:nvPr/>
        </p:nvSpPr>
        <p:spPr>
          <a:xfrm>
            <a:off x="10106922" y="5152659"/>
            <a:ext cx="2006522" cy="1015663"/>
          </a:xfrm>
          <a:prstGeom prst="rect">
            <a:avLst/>
          </a:prstGeom>
          <a:noFill/>
        </p:spPr>
        <p:txBody>
          <a:bodyPr wrap="square" rtlCol="0">
            <a:spAutoFit/>
          </a:bodyPr>
          <a:lstStyle/>
          <a:p>
            <a:r>
              <a:rPr lang="en-IN" sz="1200" u="sng" dirty="0"/>
              <a:t>Key:</a:t>
            </a:r>
          </a:p>
          <a:p>
            <a:r>
              <a:rPr lang="en-IN" sz="1200" dirty="0"/>
              <a:t>CS- Cybersecurity</a:t>
            </a:r>
          </a:p>
          <a:p>
            <a:r>
              <a:rPr lang="en-IN" sz="1200" dirty="0"/>
              <a:t>RC- Regulatory compliance</a:t>
            </a:r>
          </a:p>
          <a:p>
            <a:r>
              <a:rPr lang="en-IN" sz="1200" dirty="0"/>
              <a:t>IRR- inherent risk rating</a:t>
            </a:r>
          </a:p>
          <a:p>
            <a:r>
              <a:rPr lang="en-IN" sz="1200" dirty="0"/>
              <a:t>RR- residual risk</a:t>
            </a:r>
          </a:p>
        </p:txBody>
      </p:sp>
      <p:sp>
        <p:nvSpPr>
          <p:cNvPr id="47" name="TextBox 46">
            <a:extLst>
              <a:ext uri="{FF2B5EF4-FFF2-40B4-BE49-F238E27FC236}">
                <a16:creationId xmlns:a16="http://schemas.microsoft.com/office/drawing/2014/main" id="{2ABEC758-169F-ADBB-49E3-F30D6A702E2F}"/>
              </a:ext>
            </a:extLst>
          </p:cNvPr>
          <p:cNvSpPr txBox="1"/>
          <p:nvPr/>
        </p:nvSpPr>
        <p:spPr>
          <a:xfrm rot="16200000">
            <a:off x="5051031" y="5506531"/>
            <a:ext cx="720793" cy="276999"/>
          </a:xfrm>
          <a:prstGeom prst="rect">
            <a:avLst/>
          </a:prstGeom>
          <a:noFill/>
        </p:spPr>
        <p:txBody>
          <a:bodyPr wrap="square" rtlCol="0">
            <a:spAutoFit/>
          </a:bodyPr>
          <a:lstStyle/>
          <a:p>
            <a:r>
              <a:rPr lang="en-IN" sz="1200" b="1" dirty="0"/>
              <a:t>Severity</a:t>
            </a:r>
          </a:p>
        </p:txBody>
      </p:sp>
      <p:sp>
        <p:nvSpPr>
          <p:cNvPr id="48" name="TextBox 47">
            <a:extLst>
              <a:ext uri="{FF2B5EF4-FFF2-40B4-BE49-F238E27FC236}">
                <a16:creationId xmlns:a16="http://schemas.microsoft.com/office/drawing/2014/main" id="{D735BE02-8002-F2A3-6227-1ECB598AF4C9}"/>
              </a:ext>
            </a:extLst>
          </p:cNvPr>
          <p:cNvSpPr txBox="1"/>
          <p:nvPr/>
        </p:nvSpPr>
        <p:spPr>
          <a:xfrm>
            <a:off x="7525083" y="4363518"/>
            <a:ext cx="881800" cy="276999"/>
          </a:xfrm>
          <a:prstGeom prst="rect">
            <a:avLst/>
          </a:prstGeom>
          <a:noFill/>
        </p:spPr>
        <p:txBody>
          <a:bodyPr wrap="square" rtlCol="0">
            <a:spAutoFit/>
          </a:bodyPr>
          <a:lstStyle/>
          <a:p>
            <a:r>
              <a:rPr lang="en-IN" sz="1200" b="1" dirty="0"/>
              <a:t>Likelihood</a:t>
            </a:r>
          </a:p>
        </p:txBody>
      </p:sp>
      <p:sp>
        <p:nvSpPr>
          <p:cNvPr id="49" name="TextBox 48">
            <a:extLst>
              <a:ext uri="{FF2B5EF4-FFF2-40B4-BE49-F238E27FC236}">
                <a16:creationId xmlns:a16="http://schemas.microsoft.com/office/drawing/2014/main" id="{B4EAB5AE-3F5D-9301-FF59-2D6123C42299}"/>
              </a:ext>
            </a:extLst>
          </p:cNvPr>
          <p:cNvSpPr txBox="1"/>
          <p:nvPr/>
        </p:nvSpPr>
        <p:spPr>
          <a:xfrm>
            <a:off x="5481112" y="4821587"/>
            <a:ext cx="683265" cy="1615827"/>
          </a:xfrm>
          <a:prstGeom prst="rect">
            <a:avLst/>
          </a:prstGeom>
          <a:noFill/>
        </p:spPr>
        <p:txBody>
          <a:bodyPr wrap="square" rtlCol="0">
            <a:spAutoFit/>
          </a:bodyPr>
          <a:lstStyle/>
          <a:p>
            <a:pPr algn="r"/>
            <a:r>
              <a:rPr lang="en-IN" sz="1100" dirty="0">
                <a:solidFill>
                  <a:schemeClr val="tx1">
                    <a:lumMod val="65000"/>
                    <a:lumOff val="35000"/>
                  </a:schemeClr>
                </a:solidFill>
              </a:rPr>
              <a:t>&lt;$50M</a:t>
            </a:r>
          </a:p>
          <a:p>
            <a:pPr algn="r"/>
            <a:endParaRPr lang="en-IN" sz="1100" dirty="0">
              <a:solidFill>
                <a:schemeClr val="tx1">
                  <a:lumMod val="65000"/>
                  <a:lumOff val="35000"/>
                </a:schemeClr>
              </a:solidFill>
            </a:endParaRPr>
          </a:p>
          <a:p>
            <a:pPr algn="r"/>
            <a:r>
              <a:rPr lang="en-IN" sz="1100" dirty="0">
                <a:solidFill>
                  <a:schemeClr val="tx1">
                    <a:lumMod val="65000"/>
                    <a:lumOff val="35000"/>
                  </a:schemeClr>
                </a:solidFill>
              </a:rPr>
              <a:t>$50M-</a:t>
            </a:r>
          </a:p>
          <a:p>
            <a:pPr algn="r"/>
            <a:r>
              <a:rPr lang="en-IN" sz="1100" dirty="0">
                <a:solidFill>
                  <a:schemeClr val="tx1">
                    <a:lumMod val="65000"/>
                    <a:lumOff val="35000"/>
                  </a:schemeClr>
                </a:solidFill>
              </a:rPr>
              <a:t>$500M</a:t>
            </a:r>
          </a:p>
          <a:p>
            <a:pPr algn="r"/>
            <a:endParaRPr lang="en-IN" sz="1100" dirty="0">
              <a:solidFill>
                <a:schemeClr val="tx1">
                  <a:lumMod val="65000"/>
                  <a:lumOff val="35000"/>
                </a:schemeClr>
              </a:solidFill>
            </a:endParaRPr>
          </a:p>
          <a:p>
            <a:pPr algn="r"/>
            <a:r>
              <a:rPr lang="en-IN" sz="1100" dirty="0">
                <a:solidFill>
                  <a:schemeClr val="tx1">
                    <a:lumMod val="65000"/>
                    <a:lumOff val="35000"/>
                  </a:schemeClr>
                </a:solidFill>
              </a:rPr>
              <a:t>$500M-</a:t>
            </a:r>
          </a:p>
          <a:p>
            <a:pPr algn="r"/>
            <a:r>
              <a:rPr lang="en-IN" sz="1100" dirty="0">
                <a:solidFill>
                  <a:schemeClr val="tx1">
                    <a:lumMod val="65000"/>
                    <a:lumOff val="35000"/>
                  </a:schemeClr>
                </a:solidFill>
              </a:rPr>
              <a:t>$1B</a:t>
            </a:r>
          </a:p>
          <a:p>
            <a:pPr algn="r"/>
            <a:endParaRPr lang="en-IN" sz="1100" dirty="0">
              <a:solidFill>
                <a:schemeClr val="tx1">
                  <a:lumMod val="65000"/>
                  <a:lumOff val="35000"/>
                </a:schemeClr>
              </a:solidFill>
            </a:endParaRPr>
          </a:p>
          <a:p>
            <a:pPr algn="r"/>
            <a:r>
              <a:rPr lang="en-IN" sz="1100" dirty="0">
                <a:solidFill>
                  <a:schemeClr val="tx1">
                    <a:lumMod val="65000"/>
                    <a:lumOff val="35000"/>
                  </a:schemeClr>
                </a:solidFill>
              </a:rPr>
              <a:t>$1B</a:t>
            </a:r>
          </a:p>
        </p:txBody>
      </p:sp>
      <p:sp>
        <p:nvSpPr>
          <p:cNvPr id="50" name="TextBox 49">
            <a:extLst>
              <a:ext uri="{FF2B5EF4-FFF2-40B4-BE49-F238E27FC236}">
                <a16:creationId xmlns:a16="http://schemas.microsoft.com/office/drawing/2014/main" id="{6B3C0750-6B48-2A2C-6115-3A66C603ECB9}"/>
              </a:ext>
            </a:extLst>
          </p:cNvPr>
          <p:cNvSpPr txBox="1"/>
          <p:nvPr/>
        </p:nvSpPr>
        <p:spPr>
          <a:xfrm>
            <a:off x="6278638" y="4623134"/>
            <a:ext cx="3742501" cy="261610"/>
          </a:xfrm>
          <a:prstGeom prst="rect">
            <a:avLst/>
          </a:prstGeom>
          <a:noFill/>
        </p:spPr>
        <p:txBody>
          <a:bodyPr wrap="square" rtlCol="0">
            <a:spAutoFit/>
          </a:bodyPr>
          <a:lstStyle/>
          <a:p>
            <a:r>
              <a:rPr lang="en-IN" sz="1100" dirty="0">
                <a:solidFill>
                  <a:schemeClr val="tx1">
                    <a:lumMod val="65000"/>
                    <a:lumOff val="35000"/>
                  </a:schemeClr>
                </a:solidFill>
              </a:rPr>
              <a:t>Rare            Unlikely          Possible             Likely          Certain</a:t>
            </a:r>
          </a:p>
        </p:txBody>
      </p:sp>
      <p:sp>
        <p:nvSpPr>
          <p:cNvPr id="51" name="TextBox 50">
            <a:extLst>
              <a:ext uri="{FF2B5EF4-FFF2-40B4-BE49-F238E27FC236}">
                <a16:creationId xmlns:a16="http://schemas.microsoft.com/office/drawing/2014/main" id="{D77903C0-2202-B222-B340-36452D8E8600}"/>
              </a:ext>
            </a:extLst>
          </p:cNvPr>
          <p:cNvSpPr txBox="1"/>
          <p:nvPr/>
        </p:nvSpPr>
        <p:spPr>
          <a:xfrm>
            <a:off x="5268184" y="4373210"/>
            <a:ext cx="2037353" cy="461665"/>
          </a:xfrm>
          <a:prstGeom prst="rect">
            <a:avLst/>
          </a:prstGeom>
          <a:noFill/>
        </p:spPr>
        <p:txBody>
          <a:bodyPr wrap="square" rtlCol="0">
            <a:spAutoFit/>
          </a:bodyPr>
          <a:lstStyle/>
          <a:p>
            <a:r>
              <a:rPr lang="en-IN" sz="1200" dirty="0"/>
              <a:t>Annexure 2 (c)</a:t>
            </a:r>
          </a:p>
          <a:p>
            <a:r>
              <a:rPr lang="en-IN" sz="1200" dirty="0"/>
              <a:t>Heat Map</a:t>
            </a:r>
          </a:p>
        </p:txBody>
      </p:sp>
    </p:spTree>
    <p:extLst>
      <p:ext uri="{BB962C8B-B14F-4D97-AF65-F5344CB8AC3E}">
        <p14:creationId xmlns:p14="http://schemas.microsoft.com/office/powerpoint/2010/main" val="2764398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E0DF6A-D490-F219-40B8-3C3D57524D27}"/>
              </a:ext>
            </a:extLst>
          </p:cNvPr>
          <p:cNvSpPr txBox="1"/>
          <p:nvPr/>
        </p:nvSpPr>
        <p:spPr>
          <a:xfrm>
            <a:off x="256673" y="256674"/>
            <a:ext cx="5069305" cy="369332"/>
          </a:xfrm>
          <a:prstGeom prst="rect">
            <a:avLst/>
          </a:prstGeom>
          <a:noFill/>
        </p:spPr>
        <p:txBody>
          <a:bodyPr wrap="square" rtlCol="0">
            <a:spAutoFit/>
          </a:bodyPr>
          <a:lstStyle/>
          <a:p>
            <a:r>
              <a:rPr lang="en-IN" b="1" dirty="0"/>
              <a:t>RATIONALE FOR RISK RATINGS</a:t>
            </a:r>
          </a:p>
        </p:txBody>
      </p:sp>
      <p:sp>
        <p:nvSpPr>
          <p:cNvPr id="5" name="Slide Number Placeholder 4">
            <a:extLst>
              <a:ext uri="{FF2B5EF4-FFF2-40B4-BE49-F238E27FC236}">
                <a16:creationId xmlns:a16="http://schemas.microsoft.com/office/drawing/2014/main" id="{E8E65F70-63BF-36A8-7B11-31407DEA6812}"/>
              </a:ext>
            </a:extLst>
          </p:cNvPr>
          <p:cNvSpPr>
            <a:spLocks noGrp="1"/>
          </p:cNvSpPr>
          <p:nvPr>
            <p:ph type="sldNum" sz="quarter" idx="12"/>
          </p:nvPr>
        </p:nvSpPr>
        <p:spPr/>
        <p:txBody>
          <a:bodyPr/>
          <a:lstStyle/>
          <a:p>
            <a:fld id="{FD9256D7-CCF9-45DD-9D83-392466C5837E}" type="slidenum">
              <a:rPr lang="en-IN" smtClean="0"/>
              <a:t>14</a:t>
            </a:fld>
            <a:endParaRPr lang="en-IN" dirty="0"/>
          </a:p>
        </p:txBody>
      </p:sp>
      <p:sp>
        <p:nvSpPr>
          <p:cNvPr id="9" name="TextBox 8">
            <a:extLst>
              <a:ext uri="{FF2B5EF4-FFF2-40B4-BE49-F238E27FC236}">
                <a16:creationId xmlns:a16="http://schemas.microsoft.com/office/drawing/2014/main" id="{1C581FD4-0C8B-9FD2-6CDE-188130ED2DEB}"/>
              </a:ext>
            </a:extLst>
          </p:cNvPr>
          <p:cNvSpPr txBox="1"/>
          <p:nvPr/>
        </p:nvSpPr>
        <p:spPr>
          <a:xfrm>
            <a:off x="256673" y="688587"/>
            <a:ext cx="6096000" cy="369332"/>
          </a:xfrm>
          <a:prstGeom prst="rect">
            <a:avLst/>
          </a:prstGeom>
          <a:noFill/>
        </p:spPr>
        <p:txBody>
          <a:bodyPr wrap="square">
            <a:spAutoFit/>
          </a:bodyPr>
          <a:lstStyle/>
          <a:p>
            <a:r>
              <a:rPr lang="en-IN" dirty="0"/>
              <a:t>Justification of inherent and residual risk ratings</a:t>
            </a:r>
          </a:p>
        </p:txBody>
      </p:sp>
      <p:graphicFrame>
        <p:nvGraphicFramePr>
          <p:cNvPr id="10" name="Table 9">
            <a:extLst>
              <a:ext uri="{FF2B5EF4-FFF2-40B4-BE49-F238E27FC236}">
                <a16:creationId xmlns:a16="http://schemas.microsoft.com/office/drawing/2014/main" id="{58EF2693-3EE5-30DF-D15B-53AA8A372BE7}"/>
              </a:ext>
            </a:extLst>
          </p:cNvPr>
          <p:cNvGraphicFramePr>
            <a:graphicFrameLocks noGrp="1"/>
          </p:cNvGraphicFramePr>
          <p:nvPr>
            <p:extLst>
              <p:ext uri="{D42A27DB-BD31-4B8C-83A1-F6EECF244321}">
                <p14:modId xmlns:p14="http://schemas.microsoft.com/office/powerpoint/2010/main" val="2416849567"/>
              </p:ext>
            </p:extLst>
          </p:nvPr>
        </p:nvGraphicFramePr>
        <p:xfrm>
          <a:off x="353917" y="1114926"/>
          <a:ext cx="11485157" cy="4455160"/>
        </p:xfrm>
        <a:graphic>
          <a:graphicData uri="http://schemas.openxmlformats.org/drawingml/2006/table">
            <a:tbl>
              <a:tblPr firstRow="1" bandRow="1">
                <a:tableStyleId>{69012ECD-51FC-41F1-AA8D-1B2483CD663E}</a:tableStyleId>
              </a:tblPr>
              <a:tblGrid>
                <a:gridCol w="1811767">
                  <a:extLst>
                    <a:ext uri="{9D8B030D-6E8A-4147-A177-3AD203B41FA5}">
                      <a16:colId xmlns:a16="http://schemas.microsoft.com/office/drawing/2014/main" val="2008764938"/>
                    </a:ext>
                  </a:extLst>
                </a:gridCol>
                <a:gridCol w="3465095">
                  <a:extLst>
                    <a:ext uri="{9D8B030D-6E8A-4147-A177-3AD203B41FA5}">
                      <a16:colId xmlns:a16="http://schemas.microsoft.com/office/drawing/2014/main" val="1212652478"/>
                    </a:ext>
                  </a:extLst>
                </a:gridCol>
                <a:gridCol w="3096126">
                  <a:extLst>
                    <a:ext uri="{9D8B030D-6E8A-4147-A177-3AD203B41FA5}">
                      <a16:colId xmlns:a16="http://schemas.microsoft.com/office/drawing/2014/main" val="4052689212"/>
                    </a:ext>
                  </a:extLst>
                </a:gridCol>
                <a:gridCol w="3112169">
                  <a:extLst>
                    <a:ext uri="{9D8B030D-6E8A-4147-A177-3AD203B41FA5}">
                      <a16:colId xmlns:a16="http://schemas.microsoft.com/office/drawing/2014/main" val="1105166444"/>
                    </a:ext>
                  </a:extLst>
                </a:gridCol>
              </a:tblGrid>
              <a:tr h="370840">
                <a:tc>
                  <a:txBody>
                    <a:bodyPr/>
                    <a:lstStyle/>
                    <a:p>
                      <a:r>
                        <a:rPr lang="en-IN" sz="1600" dirty="0"/>
                        <a:t>Risk Event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a:t>Inherent risk rationale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a:t>Control effectiveness rationale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a:t>Residual risk rationale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79665"/>
                  </a:ext>
                </a:extLst>
              </a:tr>
              <a:tr h="370840">
                <a:tc>
                  <a:txBody>
                    <a:bodyPr/>
                    <a:lstStyle/>
                    <a:p>
                      <a:r>
                        <a:rPr lang="en-IN" sz="1600" dirty="0"/>
                        <a:t>ATP Cybersecurity attack</a:t>
                      </a:r>
                    </a:p>
                    <a:p>
                      <a:endParaRPr lang="en-IN" sz="1600" dirty="0"/>
                    </a:p>
                    <a:p>
                      <a:r>
                        <a:rPr lang="en-IN" sz="1600" dirty="0"/>
                        <a:t>(Business disruption, system failure)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dirty="0">
                          <a:solidFill>
                            <a:schemeClr val="bg1"/>
                          </a:solidFill>
                        </a:rPr>
                        <a:t>Critical: </a:t>
                      </a:r>
                    </a:p>
                    <a:p>
                      <a:r>
                        <a:rPr lang="en-IN" sz="1600" dirty="0">
                          <a:solidFill>
                            <a:schemeClr val="bg1"/>
                          </a:solidFill>
                        </a:rPr>
                        <a:t>Amazon thrives on cloud infrastructure and AWS in global operations. An advanced cyberattack could result in massive service outage, data breaches. Past cases like Capital one’s AWS breach prove likelihood of such an attack.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r>
                        <a:rPr lang="en-IN" sz="1600" b="1" dirty="0"/>
                        <a:t>Moderate effectiveness:</a:t>
                      </a:r>
                    </a:p>
                    <a:p>
                      <a:r>
                        <a:rPr lang="en-IN" sz="1600" dirty="0"/>
                        <a:t>Amazon has multilayered security, Ai anomaly detection and other compliance controls. However ATS attacks can bypass the systems.</a:t>
                      </a:r>
                    </a:p>
                    <a:p>
                      <a:r>
                        <a:rPr lang="en-IN" sz="1600" b="1" dirty="0"/>
                        <a:t>[Partially effective]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r>
                        <a:rPr lang="en-IN" sz="1600" b="1" dirty="0"/>
                        <a:t>High:</a:t>
                      </a:r>
                    </a:p>
                    <a:p>
                      <a:r>
                        <a:rPr lang="en-IN" sz="1600" dirty="0"/>
                        <a:t>Evolving threats can still cause a data breach, could result in a financial impact of $500M to $1B.</a:t>
                      </a:r>
                    </a:p>
                    <a:p>
                      <a:endParaRPr lang="en-IN"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588100039"/>
                  </a:ext>
                </a:extLst>
              </a:tr>
              <a:tr h="370840">
                <a:tc>
                  <a:txBody>
                    <a:bodyPr/>
                    <a:lstStyle/>
                    <a:p>
                      <a:r>
                        <a:rPr lang="en-IN" sz="1600" dirty="0"/>
                        <a:t>Regulatory compliance in China and India</a:t>
                      </a:r>
                    </a:p>
                    <a:p>
                      <a:endParaRPr lang="en-IN" sz="1600" dirty="0"/>
                    </a:p>
                    <a:p>
                      <a:r>
                        <a:rPr lang="en-IN" sz="1600" dirty="0"/>
                        <a:t>(Clients, products and business practices)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dirty="0"/>
                        <a:t>High:</a:t>
                      </a:r>
                    </a:p>
                    <a:p>
                      <a:r>
                        <a:rPr lang="en-IN" sz="1600" dirty="0"/>
                        <a:t>Amazon relies on third-party relationships to operate in China and India, hence vulnerable to regulatory shifts. Government regulations pose risks with historical precedent in China (Alibaba, Didi).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IN" sz="1600" b="1" dirty="0"/>
                        <a:t>Low- Moderate effectiveness</a:t>
                      </a:r>
                      <a:r>
                        <a:rPr lang="en-IN" sz="1600" dirty="0"/>
                        <a:t>:</a:t>
                      </a:r>
                    </a:p>
                    <a:p>
                      <a:r>
                        <a:rPr lang="en-IN" sz="1600" dirty="0"/>
                        <a:t>Amazon engages in regulatory compliance, government relations. However, these controls cannot completely eliminate regulatory uncertainty, as governments can change laws unpredictably.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t>[Effective]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r>
                        <a:rPr lang="en-IN" sz="1600" b="1" dirty="0"/>
                        <a:t>Medium:</a:t>
                      </a:r>
                    </a:p>
                    <a:p>
                      <a:r>
                        <a:rPr lang="en-IN" sz="1600" dirty="0"/>
                        <a:t>Market share loss and supply chain disruptions pose financial risk exceeding $1B.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899252392"/>
                  </a:ext>
                </a:extLst>
              </a:tr>
            </a:tbl>
          </a:graphicData>
        </a:graphic>
      </p:graphicFrame>
      <p:sp>
        <p:nvSpPr>
          <p:cNvPr id="13" name="TextBox 12">
            <a:extLst>
              <a:ext uri="{FF2B5EF4-FFF2-40B4-BE49-F238E27FC236}">
                <a16:creationId xmlns:a16="http://schemas.microsoft.com/office/drawing/2014/main" id="{2A58C21B-F1C2-1EF2-178B-A7918AA31BAA}"/>
              </a:ext>
            </a:extLst>
          </p:cNvPr>
          <p:cNvSpPr txBox="1"/>
          <p:nvPr/>
        </p:nvSpPr>
        <p:spPr>
          <a:xfrm>
            <a:off x="353917" y="5823164"/>
            <a:ext cx="933253" cy="692497"/>
          </a:xfrm>
          <a:prstGeom prst="rect">
            <a:avLst/>
          </a:prstGeom>
          <a:noFill/>
        </p:spPr>
        <p:txBody>
          <a:bodyPr wrap="square" rtlCol="0">
            <a:spAutoFit/>
          </a:bodyPr>
          <a:lstStyle/>
          <a:p>
            <a:r>
              <a:rPr lang="en-IN" sz="1300" u="sng" dirty="0"/>
              <a:t>Key</a:t>
            </a:r>
            <a:r>
              <a:rPr lang="en-IN" sz="1300" dirty="0"/>
              <a:t>:</a:t>
            </a:r>
          </a:p>
          <a:p>
            <a:r>
              <a:rPr lang="en-IN" sz="1300" dirty="0"/>
              <a:t>Low</a:t>
            </a:r>
          </a:p>
          <a:p>
            <a:r>
              <a:rPr lang="en-IN" sz="1300" dirty="0"/>
              <a:t>Medium</a:t>
            </a:r>
          </a:p>
        </p:txBody>
      </p:sp>
      <p:sp>
        <p:nvSpPr>
          <p:cNvPr id="14" name="TextBox 13">
            <a:extLst>
              <a:ext uri="{FF2B5EF4-FFF2-40B4-BE49-F238E27FC236}">
                <a16:creationId xmlns:a16="http://schemas.microsoft.com/office/drawing/2014/main" id="{2F9F6700-A474-EE07-BD9F-4864167E775D}"/>
              </a:ext>
            </a:extLst>
          </p:cNvPr>
          <p:cNvSpPr txBox="1"/>
          <p:nvPr/>
        </p:nvSpPr>
        <p:spPr>
          <a:xfrm>
            <a:off x="1537000" y="5823164"/>
            <a:ext cx="933253" cy="692497"/>
          </a:xfrm>
          <a:prstGeom prst="rect">
            <a:avLst/>
          </a:prstGeom>
          <a:noFill/>
        </p:spPr>
        <p:txBody>
          <a:bodyPr wrap="square" rtlCol="0">
            <a:spAutoFit/>
          </a:bodyPr>
          <a:lstStyle/>
          <a:p>
            <a:endParaRPr lang="en-IN" sz="1300" dirty="0"/>
          </a:p>
          <a:p>
            <a:r>
              <a:rPr lang="en-IN" sz="1300" dirty="0"/>
              <a:t>High</a:t>
            </a:r>
          </a:p>
          <a:p>
            <a:r>
              <a:rPr lang="en-IN" sz="1300" dirty="0"/>
              <a:t>Critical</a:t>
            </a:r>
          </a:p>
        </p:txBody>
      </p:sp>
      <p:sp>
        <p:nvSpPr>
          <p:cNvPr id="15" name="Oval 14">
            <a:extLst>
              <a:ext uri="{FF2B5EF4-FFF2-40B4-BE49-F238E27FC236}">
                <a16:creationId xmlns:a16="http://schemas.microsoft.com/office/drawing/2014/main" id="{C85558F8-AD3B-6F50-DEF6-0C019115A256}"/>
              </a:ext>
            </a:extLst>
          </p:cNvPr>
          <p:cNvSpPr/>
          <p:nvPr/>
        </p:nvSpPr>
        <p:spPr>
          <a:xfrm>
            <a:off x="1120172" y="6062830"/>
            <a:ext cx="166998" cy="166998"/>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Oval 15">
            <a:extLst>
              <a:ext uri="{FF2B5EF4-FFF2-40B4-BE49-F238E27FC236}">
                <a16:creationId xmlns:a16="http://schemas.microsoft.com/office/drawing/2014/main" id="{32DCAF4C-3127-B4D9-42B2-9465DEDE2D27}"/>
              </a:ext>
            </a:extLst>
          </p:cNvPr>
          <p:cNvSpPr/>
          <p:nvPr/>
        </p:nvSpPr>
        <p:spPr>
          <a:xfrm>
            <a:off x="1120172" y="6291727"/>
            <a:ext cx="166998" cy="166998"/>
          </a:xfrm>
          <a:prstGeom prst="ellips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Oval 16">
            <a:extLst>
              <a:ext uri="{FF2B5EF4-FFF2-40B4-BE49-F238E27FC236}">
                <a16:creationId xmlns:a16="http://schemas.microsoft.com/office/drawing/2014/main" id="{168E45DD-E1E4-10FC-A4A9-8D067E80AF3B}"/>
              </a:ext>
            </a:extLst>
          </p:cNvPr>
          <p:cNvSpPr/>
          <p:nvPr/>
        </p:nvSpPr>
        <p:spPr>
          <a:xfrm>
            <a:off x="2204254" y="6062830"/>
            <a:ext cx="166998" cy="166998"/>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Oval 17">
            <a:extLst>
              <a:ext uri="{FF2B5EF4-FFF2-40B4-BE49-F238E27FC236}">
                <a16:creationId xmlns:a16="http://schemas.microsoft.com/office/drawing/2014/main" id="{155F068C-922E-A488-097B-278202D231C9}"/>
              </a:ext>
            </a:extLst>
          </p:cNvPr>
          <p:cNvSpPr/>
          <p:nvPr/>
        </p:nvSpPr>
        <p:spPr>
          <a:xfrm>
            <a:off x="2204254" y="6291727"/>
            <a:ext cx="166998" cy="16699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TextBox 19">
            <a:extLst>
              <a:ext uri="{FF2B5EF4-FFF2-40B4-BE49-F238E27FC236}">
                <a16:creationId xmlns:a16="http://schemas.microsoft.com/office/drawing/2014/main" id="{B17AC439-D345-1175-D07A-878EED0981FD}"/>
              </a:ext>
            </a:extLst>
          </p:cNvPr>
          <p:cNvSpPr txBox="1"/>
          <p:nvPr/>
        </p:nvSpPr>
        <p:spPr>
          <a:xfrm>
            <a:off x="250400" y="24816"/>
            <a:ext cx="2037353" cy="338554"/>
          </a:xfrm>
          <a:prstGeom prst="rect">
            <a:avLst/>
          </a:prstGeom>
          <a:noFill/>
        </p:spPr>
        <p:txBody>
          <a:bodyPr wrap="square" rtlCol="0">
            <a:spAutoFit/>
          </a:bodyPr>
          <a:lstStyle/>
          <a:p>
            <a:r>
              <a:rPr lang="en-IN" sz="1600" dirty="0"/>
              <a:t>Annexure 3</a:t>
            </a:r>
          </a:p>
        </p:txBody>
      </p:sp>
    </p:spTree>
    <p:extLst>
      <p:ext uri="{BB962C8B-B14F-4D97-AF65-F5344CB8AC3E}">
        <p14:creationId xmlns:p14="http://schemas.microsoft.com/office/powerpoint/2010/main" val="23373463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2840</TotalTime>
  <Words>2069</Words>
  <Application>Microsoft Office PowerPoint</Application>
  <PresentationFormat>Widescreen</PresentationFormat>
  <Paragraphs>302</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Vanya Sharma</dc:creator>
  <cp:lastModifiedBy>Vanya Sharma</cp:lastModifiedBy>
  <cp:revision>96</cp:revision>
  <dcterms:created xsi:type="dcterms:W3CDTF">2025-03-21T22:42:07Z</dcterms:created>
  <dcterms:modified xsi:type="dcterms:W3CDTF">2025-03-23T22:56:06Z</dcterms:modified>
</cp:coreProperties>
</file>